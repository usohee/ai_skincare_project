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aQBUDNkepf7/VGfFXtlCCSpxJ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91AD8E-A2A2-4033-9333-3CF34E0802BA}">
  <a:tblStyle styleId="{B391AD8E-A2A2-4033-9333-3CF34E0802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9f56f82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e9f56f82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g3e9f56f82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9f56f827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e9f56f827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3e9f56f8274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9f56f827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e9f56f827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g3e9f56f827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4" name="Google Shape;77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411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캡스톤디자인 최종 프로젝트 보고서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86868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Mirror Me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컴퓨터 비전(YOLOv8) 기반 피부 분석 및 LLM 기반 맞춤형 스킨케어 큐레이션 시스템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팀명: 응원해조  | 제출일: 2026. 5. 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749808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0" y="749808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74320" y="1005840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32688" y="84124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32688" y="1271016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배경 · 목표 · 팀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54880" y="749808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54880" y="749808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0" y="1005840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13248" y="84124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유사 서비스 비교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13248" y="1271016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차별화 포인트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1965960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74320" y="1965960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221992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32688" y="2057400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기술 개요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32688" y="248716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YOLOv8 · LLM · MediaPipe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965960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1965960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0" y="2221992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13248" y="2057400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LLM 활용 계획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13248" y="2487168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개발 도구 + 런타임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3182112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3182112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74320" y="3438144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32688" y="327355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요구사항 분석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32688" y="3703320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기능 · 비기능 · 시나리오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54880" y="3182112"/>
            <a:ext cx="4206240" cy="10515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3182112"/>
            <a:ext cx="566928" cy="10515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3438144"/>
            <a:ext cx="5669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13248" y="3273552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시스템 설계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413248" y="3703320"/>
            <a:ext cx="3429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아키텍처 · DFD ·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배경 · 목표 · 팀 구성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팀 구성 및 역할 분담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66751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팀명: 응원해조  |  GitHub: usohee/AI_SkinCare_project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74320" y="100584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84048" y="1042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유소희 (팀장)|20232346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651760" y="104241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AI &amp;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84048" y="144475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OpenCV 전처리, YOLOv8 최적화, 점수화 알고리즘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754880" y="100584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54880" y="100584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864608" y="1042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이윤석|20242523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132320" y="104241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AI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864608" y="144475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프롬프트 엔지니어링, 지식 베이스 구축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4320" y="233172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74320" y="233172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84048" y="23682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장여정|20241513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651760" y="236829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84048" y="277063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Android UI, 시계열 대시보드 그래프 시각화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0" y="233172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754880" y="233172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64608" y="23682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현예진|20241512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132320" y="236829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Backend /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864608" y="277063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FastAPI 서버, 히스토리·사용자·제품 DB 설계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74320" y="365760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365760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84048" y="36941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조정인|20242522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651760" y="369417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84048" y="409651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Hub 데이터 가공, Roboflow 라벨링, 화장품 DB 수집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54880" y="3657600"/>
            <a:ext cx="4206240" cy="11430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54880" y="365760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64608" y="369417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박채원|20241487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132320" y="3694176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F5F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5F3"/>
                </a:solidFill>
                <a:latin typeface="Calibri"/>
                <a:ea typeface="Calibri"/>
                <a:cs typeface="Calibri"/>
                <a:sym typeface="Calibri"/>
              </a:rPr>
              <a:t>System Integ.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64608" y="4096512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통합 테스트, 빌드·디버깅 환경 관리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프로젝트 배경 및 필요성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74320" y="713232"/>
            <a:ext cx="8595360" cy="12344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74320" y="713232"/>
            <a:ext cx="73152" cy="12344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8046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K-뷰티 산업 성장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118872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2030 세대 피부 관리 관심도 급증, 고가의 피부과 진단 비용은 청년층에 경제적 장벽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스마트폰 기반 저비용 진단 서비스에 대한 수요 증가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74320" y="2130552"/>
            <a:ext cx="8595360" cy="12344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74320" y="2130552"/>
            <a:ext cx="73152" cy="1234440"/>
          </a:xfrm>
          <a:prstGeom prst="rect">
            <a:avLst/>
          </a:prstGeom>
          <a:solidFill>
            <a:srgbClr val="D94F6B"/>
          </a:solidFill>
          <a:ln cap="flat" cmpd="sng" w="12700">
            <a:solidFill>
              <a:srgbClr val="D94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7200" y="22219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정보 비대칭 문제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260604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SNS 광고 범람으로 신뢰할 수 있는 정보 탐색 어려움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비용·지리적 제약으로 스킨케어 정보 격차 발생, 데이터 기반 올바른 셀프케어 유도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74320" y="3547872"/>
            <a:ext cx="8595360" cy="12344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74320" y="3547872"/>
            <a:ext cx="73152" cy="12344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363931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기술적 필요성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402336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기존 단순 설문조사 방식의 뷰티 앱 한계 극복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고성능 YOLOv8 객체 탐지 + LLM 결합: 시각적 정량 진단 + 자연어 큐레이션 융합 시스템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프로젝트 목표 및 주요 기능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컴퓨터 비전(YOLOv8) 기반 피부 분석 및 LLM 기반 맞춤형 스킨케어 큐레이션 시스템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274320" y="1097280"/>
            <a:ext cx="420624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74320" y="1097280"/>
            <a:ext cx="621792" cy="16002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74320" y="1627632"/>
            <a:ext cx="621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87552" y="12344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AI 피부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87552" y="1664208"/>
            <a:ext cx="33832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YOLOv8로 여드름·모공·홍조·피지 탐지, 밀도·면적 계산으로 100점 기준 점수화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754880" y="1097280"/>
            <a:ext cx="420624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754880" y="1097280"/>
            <a:ext cx="621792" cy="16002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754880" y="1627632"/>
            <a:ext cx="621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68112" y="12344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생성형 AI 리포트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68112" y="1664208"/>
            <a:ext cx="33832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기반 자연어 맞춤 리포트 (피부 상태 요약·관리 팁·주의사항)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74320" y="2880360"/>
            <a:ext cx="420624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74320" y="2880360"/>
            <a:ext cx="621792" cy="16002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74320" y="3410712"/>
            <a:ext cx="621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87552" y="30175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스마트 루틴 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87552" y="3447288"/>
            <a:ext cx="33832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화장품 성분 분석 후 아침/저녁 최적 스킨케어 루틴 자동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754880" y="2880360"/>
            <a:ext cx="4206240" cy="16002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754880" y="2880360"/>
            <a:ext cx="621792" cy="16002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54880" y="3410712"/>
            <a:ext cx="621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68112" y="30175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시계열 추적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468112" y="3447288"/>
            <a:ext cx="33832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누적 진단 데이터를 꺾은선 그래프로 시각화하는 대시보드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유사 서비스 비교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차별화 포인트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유사 서비스 비교 분석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6" name="Google Shape;176;p8"/>
          <p:cNvGraphicFramePr/>
          <p:nvPr/>
        </p:nvGraphicFramePr>
        <p:xfrm>
          <a:off x="274320" y="731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{B391AD8E-A2A2-4033-9333-3CF34E0802BA}</a:tableStyleId>
              </a:tblPr>
              <a:tblGrid>
                <a:gridCol w="1554475"/>
                <a:gridCol w="3520450"/>
                <a:gridCol w="3520450"/>
              </a:tblGrid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구분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9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기존 서비스 (화해 등)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9E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Mirror Me 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9E8A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진단 방식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주관적 설문조사 기반 피부 타입 분류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E8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9E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YOLOv8 딥러닝으로 이미지 분석 → 정량적 점수 산출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큐레이션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특정 브랜드 홍보 또는 단순 성분 정보 제공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E8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9E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식약처·피부과의사회 가이드라인 기반 LLM 맞춤 처방전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루틴 설계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새 제품 구매 유도 중심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E8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9E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보유 제품 성분 분석 → 최적 아침/저녁 루틴 자동 구성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지속성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일회성 분석에 그침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E8A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B9E8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시계열 대시보드로 피부 변화 추이 지속 모니터링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150" marL="731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기술 개요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YOLOv8 · LLM · MediaPipe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핵심 기술 스택 개요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274320" y="749808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74320" y="749808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429768" y="84124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429768" y="1225296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객체 탐지·세그멘테이션 실시간 고속 수행. 여드름·모공·홍조·피지를 바운딩 박스로 정밀 검출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54880" y="749808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754880" y="749808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910328" y="84124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LLM (GPT-4o / Claude)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910328" y="1225296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수치화된 피부 진단 결과 + 성분 데이터 융합, 맞춤형 처방 리포트를 생성하는 자연어 엔진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274320" y="2176272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74320" y="2176272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29768" y="22677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프롬프트 엔지니어링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29768" y="2651760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의학 가이드라인 준수·Hallucination 방지를 위해 역할·제약조건·출력 포맷(JSON)을 정밀 제어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754880" y="2176272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754880" y="2176272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910328" y="22677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MediaPipe Face Mesh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910328" y="2651760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468포인트 실시간 추적으로 배경 제거 및 피부 영역 정밀 분리, YOLOv8 결합으로 오차 최소화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274320" y="3602736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29768" y="369417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29768" y="4078224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비동기 RESTful API 엔드포인트. Android ↔ AI 모듈 ↔ LLM API 오케스트레이션 담당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754880" y="3602736"/>
            <a:ext cx="4206240" cy="1261872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754880" y="3602736"/>
            <a:ext cx="64008" cy="12618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910328" y="369417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OpenCV + Android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910328" y="4078224"/>
            <a:ext cx="39319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모바일 클라이언트 내 1차 이미지 크롭·조도 균일화 처리로 서버 전처리 부하 감소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 활용 계획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개발 도구 + 런타임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① Cursor + Claude 계정 활용 (개발 생산성)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소스코드 자동완성·리팩토링·디버깅·문서 작성 등 개발 전반에 Cursor Editor와 Claude 계정을 적극 활용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274320" y="1005840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274320" y="113385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749808" y="104241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OpenCV 전처리 고도화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49808" y="1335024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조명 영향 최소화 코드 개발 (정확도 개선)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4754880" y="1005840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4754880" y="1133856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230368" y="104241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YOLOv8 파이프라인 검증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230368" y="1335024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모델 추론 파이프라인 코드 리뷰 및 버그 탐지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74320" y="1801368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74320" y="1929384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749808" y="183794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 알고리즘·API 연동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749808" y="2130552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점수화 로직 설계 및 FastAPI 엔드포인트 연동 코드 자동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754880" y="1801368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754880" y="1929384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5230368" y="183794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시스템 통합 및 디버깅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230368" y="2130552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데이터 파싱 에러·연결 문제 디버깅 자동화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274320" y="2596896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274320" y="272491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49808" y="263347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개발 문서 자동 작성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49808" y="292608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API 명세 및 코드 주석 자동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4754880" y="2596896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4754880" y="2724912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230368" y="263347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UX 개선 및 보강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230368" y="2926080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Android UI 레이아웃 리팩토링 및 UX 피드백 반영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274320" y="3392424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274320" y="3520440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49808" y="342900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일정 설계 보조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49808" y="37216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작업 분류 및 일정 산정 초안 작성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754880" y="3392424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4754880" y="3520440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230368" y="342900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MediaPipe 결합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230368" y="3721608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배경 제거 로직 구현으로 분석 오차 감소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274320" y="4187952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274320" y="43159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749808" y="422452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크롤링 데이터 정제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49808" y="4517136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성분명 매칭 알고리즘 작성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754880" y="4187952"/>
            <a:ext cx="384048" cy="62179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754880" y="43159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230368" y="422452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점수화 수식 구현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230368" y="4517136"/>
            <a:ext cx="3703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밀도·면적 기반 점수화 수식 설계 및 코드 구현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② ChatGPT API + Claude API 활용 (서비스 런타임)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GPT-4o(빠른 자연어 변환·루틴 생성)와 Claude API(고정밀 성분 판별·원인 분석)를 역할에 따라 분리 배치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274320" y="100584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ChatGPT API (GPT-4o)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274320" y="144475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74320" y="1444752"/>
            <a:ext cx="64008" cy="7772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38912" y="14996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수치 데이터 → 자연어 변환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38912" y="18288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피부 점수 지표를 친근한 자연어 요약 문장으로 변환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74320" y="231343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274320" y="2313432"/>
            <a:ext cx="64008" cy="7772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38912" y="23682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데일리 스킨케어 루틴 자동 구성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38912" y="26974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점수 기반 아침/저녁 루틴 단계별 자동 생성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274320" y="318211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274320" y="3182112"/>
            <a:ext cx="64008" cy="7772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38912" y="32369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성분 보강 제품 추천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438912" y="35661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현재 부족한 성분을 보완하는 신규 제품 추천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274320" y="405079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274320" y="4050792"/>
            <a:ext cx="64008" cy="7772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38912" y="41056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크롤링 데이터 전처리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38912" y="4434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제품 데이터 전처리 및 성분 카테고리 자동 매핑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4663440" y="144475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663440" y="1444752"/>
            <a:ext cx="64008" cy="77724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828032" y="14996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의학 가이드라인 프롬프트 주입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828032" y="18288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식약처·피부과의사회 가이드라인 기반 고신뢰성 지식 베이스 구축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663440" y="231343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663440" y="2313432"/>
            <a:ext cx="64008" cy="77724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828032" y="23682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소장 제품 적합성 판별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828032" y="26974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사용자 피부 타입·알레르기 성분과 화장품 전성분 비교 분석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663440" y="318211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663440" y="3182112"/>
            <a:ext cx="64008" cy="77724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828032" y="323697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피부 고민 근본 원인 도출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828032" y="35661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탐지 지표(여드름·홍조·피지)를 복합 분석하여 원인 추론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4663440" y="4050792"/>
            <a:ext cx="420624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4663440" y="4050792"/>
            <a:ext cx="64008" cy="77724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828032" y="410565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성분 데이터 카테고리 자동화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828032" y="4434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제품 주요 효능별(보습/진정/각질/자외선차단) 자동 태깅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요구사항 분석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기능 · 비기능 · 시나리오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기능 요구사항 (7개)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274320" y="713232"/>
            <a:ext cx="8595360" cy="5486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347472" y="80467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804672" y="80467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회원 관리 및 프로필 등록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3547872" y="80467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회원가입/로그인, 피부 타입·알레르기 성분·피부 고민 정보 입력·수정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274320" y="1330452"/>
            <a:ext cx="8595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347472" y="142189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804672" y="14218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피부 이미지 촬영 및 전송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3547872" y="142189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모바일 카메라 촬영, OpenCV 전처리(왜곡·조도 보정) 후 백엔드 서버 업로드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274320" y="1947672"/>
            <a:ext cx="8595360" cy="5486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347472" y="203911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804672" y="203911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피부 상태 분석 및 점수화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3547872" y="203911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YOLOv8로 여드름·모공·홍조·피지 검출, 밀도·면적 계산으로 100점 기준 산출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274320" y="2564892"/>
            <a:ext cx="8595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347472" y="265633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804672" y="265633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생성형 AI 맞춤 리포트 발행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547872" y="265633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요약·지표 해석·관리 팁·주의사항 템플릿으로 LLM 맞춤 리포트 생성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274320" y="3182112"/>
            <a:ext cx="8595360" cy="5486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347472" y="327355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04672" y="327355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화장품 등록 및 적합성 판별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3547872" y="327355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바코드 촬영/검색으로 등록 후 피부 고민·알레르기와 매칭률(적합/주의/부적합) 판별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274320" y="3799332"/>
            <a:ext cx="85953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47472" y="389077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04672" y="389077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스마트 루틴 자동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3547872" y="389077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성분 카테고리 분류(세안·보습·기능성·선크림 등)로 최적 아침/저녁 루틴 생성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274320" y="4416552"/>
            <a:ext cx="8595360" cy="5486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347472" y="4507992"/>
            <a:ext cx="411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⑦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04672" y="4507992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시계열 대시보드 및 히스토리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3547872" y="4507992"/>
            <a:ext cx="5257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과거 진단 기록·점수 변화 추이를 주간/월간 꺾은선 그래프로 시각화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6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비기능 요구사항 및 타깃 사용자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251170" y="1101720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251095" y="1099520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388624" y="1190997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성능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1353295" y="1190997"/>
            <a:ext cx="731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이미지 업로드 → AI 진단 → LLM 리포트 총 5초 이내. 모바일 그래프 렌더링 0.5초 이하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251195" y="2107667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251145" y="2111992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384053" y="2203525"/>
            <a:ext cx="661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안정성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298445" y="2199120"/>
            <a:ext cx="731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API 장애 시 서킷 브레이커 패턴으로 기본 로컬 템플릿 메시지 반환 가드레일 구축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274320" y="2999189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265195" y="2999164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384062" y="3090655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보안성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353295" y="3090667"/>
            <a:ext cx="731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얼굴 이미지·개인 정보 HTTPS 암호화 필수. DB 저장 시 식별 정보와 이미지 분리 보관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274320" y="3886400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251200" y="3886400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438912" y="3977877"/>
            <a:ext cx="914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확장성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1353295" y="3977865"/>
            <a:ext cx="7315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FastAPI 비동기 처리로 대규모 동시 요청 처리. 화장품 성분 DB·AI 모델 플러그인 교체 가능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9f56f8274_0_0"/>
          <p:cNvSpPr/>
          <p:nvPr/>
        </p:nvSpPr>
        <p:spPr>
          <a:xfrm>
            <a:off x="320040" y="201168"/>
            <a:ext cx="63900" cy="3474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9f56f8274_0_0"/>
          <p:cNvSpPr/>
          <p:nvPr/>
        </p:nvSpPr>
        <p:spPr>
          <a:xfrm>
            <a:off x="475488" y="164592"/>
            <a:ext cx="8321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타깃 사용자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9f56f8274_0_0"/>
          <p:cNvSpPr/>
          <p:nvPr/>
        </p:nvSpPr>
        <p:spPr>
          <a:xfrm>
            <a:off x="0" y="5006340"/>
            <a:ext cx="9144000" cy="137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e9f56f8274_0_0"/>
          <p:cNvSpPr/>
          <p:nvPr/>
        </p:nvSpPr>
        <p:spPr>
          <a:xfrm>
            <a:off x="274320" y="713232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e9f56f8274_0_0"/>
          <p:cNvSpPr/>
          <p:nvPr/>
        </p:nvSpPr>
        <p:spPr>
          <a:xfrm>
            <a:off x="274320" y="713232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e9f56f8274_0_0"/>
          <p:cNvSpPr/>
          <p:nvPr/>
        </p:nvSpPr>
        <p:spPr>
          <a:xfrm>
            <a:off x="438833" y="804675"/>
            <a:ext cx="6056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피부 트러블로 고민이 많으나 비용 부담으로 피부과 방문이 어려운 2030 대학생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9f56f8274_0_0"/>
          <p:cNvSpPr/>
          <p:nvPr/>
        </p:nvSpPr>
        <p:spPr>
          <a:xfrm>
            <a:off x="274320" y="1307592"/>
            <a:ext cx="8595300" cy="5121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e9f56f8274_0_0"/>
          <p:cNvSpPr/>
          <p:nvPr/>
        </p:nvSpPr>
        <p:spPr>
          <a:xfrm>
            <a:off x="274320" y="1307592"/>
            <a:ext cx="63900" cy="5121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e9f56f8274_0_0"/>
          <p:cNvSpPr/>
          <p:nvPr/>
        </p:nvSpPr>
        <p:spPr>
          <a:xfrm>
            <a:off x="438851" y="1399025"/>
            <a:ext cx="6183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화장품을 많이 구매하지만 본인 피부 성분에 맞는지 몰라 최적 조합을 찾고 싶은 스마트 컨슈머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e9f56f8274_0_0"/>
          <p:cNvSpPr/>
          <p:nvPr/>
        </p:nvSpPr>
        <p:spPr>
          <a:xfrm>
            <a:off x="320060" y="276147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사용 시나리오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9f56f8274_0_0"/>
          <p:cNvSpPr/>
          <p:nvPr/>
        </p:nvSpPr>
        <p:spPr>
          <a:xfrm>
            <a:off x="320095" y="3140712"/>
            <a:ext cx="8595300" cy="1326000"/>
          </a:xfrm>
          <a:prstGeom prst="rect">
            <a:avLst/>
          </a:prstGeom>
          <a:solidFill>
            <a:srgbClr val="E8F5F3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e9f56f8274_0_0"/>
          <p:cNvSpPr/>
          <p:nvPr/>
        </p:nvSpPr>
        <p:spPr>
          <a:xfrm>
            <a:off x="475500" y="3285077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① 대학생 A씨가 환절기 여드름·홍조로 Mirror Me 앱 실행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e9f56f8274_0_0"/>
          <p:cNvSpPr/>
          <p:nvPr/>
        </p:nvSpPr>
        <p:spPr>
          <a:xfrm>
            <a:off x="457200" y="3570835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② 카메라 가이드에 맞춰 전면 얼굴 사진 촬영 및 업로드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e9f56f8274_0_0"/>
          <p:cNvSpPr/>
          <p:nvPr/>
        </p:nvSpPr>
        <p:spPr>
          <a:xfrm>
            <a:off x="475500" y="3856568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③ 약 3초 후 AI가 여드름·홍조 부위 검출 → '홍조 점수: 62점(주의)' 지표 출력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9f56f8274_0_0"/>
          <p:cNvSpPr/>
          <p:nvPr/>
        </p:nvSpPr>
        <p:spPr>
          <a:xfrm>
            <a:off x="475500" y="4145714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④ LLM 리포트에서 소장 제품 적합 성분·루틴 배치 방법과 제외 제품 확인 → 안전 홈케어 수행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777240" y="1371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777240" y="1828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시스템 설계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아키텍처 · DFD · DB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시스템 전체 구조 (Client-Server 3-Tier)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274320" y="749808"/>
            <a:ext cx="2743200" cy="384048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274320" y="74980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(Android)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274320" y="1133856"/>
            <a:ext cx="2743200" cy="2468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365760" y="1188720"/>
            <a:ext cx="2560320" cy="2359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UI 제공 (Kotlin/Java)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OpenCV + MediaPipe 로컬 전처리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이미지 크롭·조도 균일화·배경 제거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시계열 그래프 대시보드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3063240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3200400" y="749808"/>
            <a:ext cx="2743200" cy="384048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200400" y="74980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(FastAPI)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3200400" y="1133856"/>
            <a:ext cx="2743200" cy="2468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3291840" y="1188720"/>
            <a:ext cx="2560320" cy="2359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RESTful API 엔드포인트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비동기(Async) 요청 처리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YOLOv8 비전 파이프라인 오케스트레이션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DB 저장, LLM 엔드포인트 연동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5989320" y="21488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6126480" y="749808"/>
            <a:ext cx="2743200" cy="384048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6126480" y="74980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AI 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6126480" y="1133856"/>
            <a:ext cx="2743200" cy="2468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6217920" y="1188720"/>
            <a:ext cx="2560320" cy="2359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YOLOv8 Engine (실시간 객체 탐지)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LLM 지식 베이스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(OpenAI GPT-4o / Claude API)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· PostgreSQL DB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(사용자·화장품·히스토리 관리)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365760" y="3822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데이터 흐름도 (DFD)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74320" y="4160520"/>
            <a:ext cx="1097280" cy="5029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7432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 촬영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37160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508760" y="4160520"/>
            <a:ext cx="1097280" cy="5029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50876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 전처리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260604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2743200" y="4160520"/>
            <a:ext cx="1097280" cy="5029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274320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 YOLOv8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84048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977640" y="4160520"/>
            <a:ext cx="1097280" cy="50292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97764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 점수화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507492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5212080" y="4160520"/>
            <a:ext cx="1097280" cy="50292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21208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630936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446520" y="4160520"/>
            <a:ext cx="1097280" cy="50292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644652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⑥ DB 저장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7543800" y="4187952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7680960" y="4160520"/>
            <a:ext cx="1097280" cy="502920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7680960" y="41605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⑦ 출력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9f56f8274_0_30"/>
          <p:cNvSpPr/>
          <p:nvPr/>
        </p:nvSpPr>
        <p:spPr>
          <a:xfrm>
            <a:off x="320040" y="164592"/>
            <a:ext cx="64008" cy="347472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e9f56f8274_0_30"/>
          <p:cNvSpPr txBox="1"/>
          <p:nvPr/>
        </p:nvSpPr>
        <p:spPr>
          <a:xfrm>
            <a:off x="484632" y="15544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기능 구조 설계</a:t>
            </a:r>
            <a:endParaRPr/>
          </a:p>
        </p:txBody>
      </p:sp>
      <p:sp>
        <p:nvSpPr>
          <p:cNvPr id="469" name="Google Shape;469;g3e9f56f8274_0_30"/>
          <p:cNvSpPr txBox="1"/>
          <p:nvPr/>
        </p:nvSpPr>
        <p:spPr>
          <a:xfrm>
            <a:off x="484632" y="5120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기능 블록도 · 데이터 흐름도(DFD) 상세</a:t>
            </a:r>
            <a:endParaRPr/>
          </a:p>
        </p:txBody>
      </p:sp>
      <p:sp>
        <p:nvSpPr>
          <p:cNvPr id="470" name="Google Shape;470;g3e9f56f8274_0_30"/>
          <p:cNvSpPr txBox="1"/>
          <p:nvPr/>
        </p:nvSpPr>
        <p:spPr>
          <a:xfrm>
            <a:off x="320040" y="8046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기능 블록도</a:t>
            </a:r>
            <a:endParaRPr/>
          </a:p>
        </p:txBody>
      </p:sp>
      <p:sp>
        <p:nvSpPr>
          <p:cNvPr id="471" name="Google Shape;471;g3e9f56f8274_0_30"/>
          <p:cNvSpPr/>
          <p:nvPr/>
        </p:nvSpPr>
        <p:spPr>
          <a:xfrm>
            <a:off x="320040" y="1115568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e9f56f8274_0_30"/>
          <p:cNvSpPr/>
          <p:nvPr/>
        </p:nvSpPr>
        <p:spPr>
          <a:xfrm>
            <a:off x="320040" y="1115568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e9f56f8274_0_30"/>
          <p:cNvSpPr txBox="1"/>
          <p:nvPr/>
        </p:nvSpPr>
        <p:spPr>
          <a:xfrm>
            <a:off x="438912" y="117043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Mirror Me App (Android)</a:t>
            </a:r>
            <a:endParaRPr/>
          </a:p>
        </p:txBody>
      </p:sp>
      <p:sp>
        <p:nvSpPr>
          <p:cNvPr id="474" name="Google Shape;474;g3e9f56f8274_0_30"/>
          <p:cNvSpPr txBox="1"/>
          <p:nvPr/>
        </p:nvSpPr>
        <p:spPr>
          <a:xfrm>
            <a:off x="457200" y="15179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회원 / 프로필 관리</a:t>
            </a:r>
            <a:endParaRPr/>
          </a:p>
        </p:txBody>
      </p:sp>
      <p:sp>
        <p:nvSpPr>
          <p:cNvPr id="475" name="Google Shape;475;g3e9f56f8274_0_30"/>
          <p:cNvSpPr txBox="1"/>
          <p:nvPr/>
        </p:nvSpPr>
        <p:spPr>
          <a:xfrm>
            <a:off x="457200" y="172364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회원가입 · 로그인 · 피부 타입 입력</a:t>
            </a:r>
            <a:endParaRPr/>
          </a:p>
        </p:txBody>
      </p:sp>
      <p:sp>
        <p:nvSpPr>
          <p:cNvPr id="476" name="Google Shape;476;g3e9f56f8274_0_30"/>
          <p:cNvSpPr txBox="1"/>
          <p:nvPr/>
        </p:nvSpPr>
        <p:spPr>
          <a:xfrm>
            <a:off x="457200" y="19293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카메라 / OpenCV + MediaPipe 전처리</a:t>
            </a:r>
            <a:endParaRPr/>
          </a:p>
        </p:txBody>
      </p:sp>
      <p:sp>
        <p:nvSpPr>
          <p:cNvPr id="477" name="Google Shape;477;g3e9f56f8274_0_30"/>
          <p:cNvSpPr txBox="1"/>
          <p:nvPr/>
        </p:nvSpPr>
        <p:spPr>
          <a:xfrm>
            <a:off x="457200" y="21351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이미지 크롭 · 조도 보정 · 배경 제거</a:t>
            </a:r>
            <a:endParaRPr/>
          </a:p>
        </p:txBody>
      </p:sp>
      <p:sp>
        <p:nvSpPr>
          <p:cNvPr id="478" name="Google Shape;478;g3e9f56f8274_0_30"/>
          <p:cNvSpPr txBox="1"/>
          <p:nvPr/>
        </p:nvSpPr>
        <p:spPr>
          <a:xfrm>
            <a:off x="457200" y="234086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화장품 서랍 (바코드 등록 / 성분 조회)</a:t>
            </a:r>
            <a:endParaRPr/>
          </a:p>
        </p:txBody>
      </p:sp>
      <p:sp>
        <p:nvSpPr>
          <p:cNvPr id="479" name="Google Shape;479;g3e9f56f8274_0_30"/>
          <p:cNvSpPr txBox="1"/>
          <p:nvPr/>
        </p:nvSpPr>
        <p:spPr>
          <a:xfrm>
            <a:off x="457200" y="25466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대시보드 / 시각화 리포트</a:t>
            </a:r>
            <a:endParaRPr/>
          </a:p>
        </p:txBody>
      </p:sp>
      <p:sp>
        <p:nvSpPr>
          <p:cNvPr id="480" name="Google Shape;480;g3e9f56f8274_0_30"/>
          <p:cNvSpPr/>
          <p:nvPr/>
        </p:nvSpPr>
        <p:spPr>
          <a:xfrm>
            <a:off x="320040" y="2898648"/>
            <a:ext cx="411480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e9f56f8274_0_30"/>
          <p:cNvSpPr/>
          <p:nvPr/>
        </p:nvSpPr>
        <p:spPr>
          <a:xfrm>
            <a:off x="320040" y="2898648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e9f56f8274_0_30"/>
          <p:cNvSpPr txBox="1"/>
          <p:nvPr/>
        </p:nvSpPr>
        <p:spPr>
          <a:xfrm>
            <a:off x="438912" y="295351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 서버</a:t>
            </a:r>
            <a:endParaRPr/>
          </a:p>
        </p:txBody>
      </p:sp>
      <p:sp>
        <p:nvSpPr>
          <p:cNvPr id="483" name="Google Shape;483;g3e9f56f8274_0_30"/>
          <p:cNvSpPr txBox="1"/>
          <p:nvPr/>
        </p:nvSpPr>
        <p:spPr>
          <a:xfrm>
            <a:off x="457200" y="33009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인증 엔드포인트 (JWT 기반 회원 인증)</a:t>
            </a:r>
            <a:endParaRPr/>
          </a:p>
        </p:txBody>
      </p:sp>
      <p:sp>
        <p:nvSpPr>
          <p:cNvPr id="484" name="Google Shape;484;g3e9f56f8274_0_30"/>
          <p:cNvSpPr txBox="1"/>
          <p:nvPr/>
        </p:nvSpPr>
        <p:spPr>
          <a:xfrm>
            <a:off x="457200" y="35067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YOLOv8 비전 분석 파이프라인</a:t>
            </a:r>
            <a:endParaRPr/>
          </a:p>
        </p:txBody>
      </p:sp>
      <p:sp>
        <p:nvSpPr>
          <p:cNvPr id="485" name="Google Shape;485;g3e9f56f8274_0_30"/>
          <p:cNvSpPr txBox="1"/>
          <p:nvPr/>
        </p:nvSpPr>
        <p:spPr>
          <a:xfrm>
            <a:off x="457200" y="3712463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이미지 수신 → 추론 → 점수화</a:t>
            </a:r>
            <a:endParaRPr/>
          </a:p>
        </p:txBody>
      </p:sp>
      <p:sp>
        <p:nvSpPr>
          <p:cNvPr id="486" name="Google Shape;486;g3e9f56f8274_0_30"/>
          <p:cNvSpPr txBox="1"/>
          <p:nvPr/>
        </p:nvSpPr>
        <p:spPr>
          <a:xfrm>
            <a:off x="457200" y="391820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LLM 프롬프트 컨트롤러</a:t>
            </a:r>
            <a:endParaRPr/>
          </a:p>
        </p:txBody>
      </p:sp>
      <p:sp>
        <p:nvSpPr>
          <p:cNvPr id="487" name="Google Shape;487;g3e9f56f8274_0_30"/>
          <p:cNvSpPr txBox="1"/>
          <p:nvPr/>
        </p:nvSpPr>
        <p:spPr>
          <a:xfrm>
            <a:off x="457200" y="412394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GPT-4o / Claude API · JSON 리포트 반환</a:t>
            </a:r>
            <a:endParaRPr/>
          </a:p>
        </p:txBody>
      </p:sp>
      <p:sp>
        <p:nvSpPr>
          <p:cNvPr id="488" name="Google Shape;488;g3e9f56f8274_0_30"/>
          <p:cNvSpPr txBox="1"/>
          <p:nvPr/>
        </p:nvSpPr>
        <p:spPr>
          <a:xfrm>
            <a:off x="457200" y="4329683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▶ 성분 매칭 / 루틴 생성 엔진</a:t>
            </a:r>
            <a:endParaRPr/>
          </a:p>
        </p:txBody>
      </p:sp>
      <p:sp>
        <p:nvSpPr>
          <p:cNvPr id="489" name="Google Shape;489;g3e9f56f8274_0_30"/>
          <p:cNvSpPr txBox="1"/>
          <p:nvPr/>
        </p:nvSpPr>
        <p:spPr>
          <a:xfrm>
            <a:off x="2148840" y="26974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▼</a:t>
            </a:r>
            <a:endParaRPr/>
          </a:p>
        </p:txBody>
      </p:sp>
      <p:sp>
        <p:nvSpPr>
          <p:cNvPr id="490" name="Google Shape;490;g3e9f56f8274_0_30"/>
          <p:cNvSpPr txBox="1"/>
          <p:nvPr/>
        </p:nvSpPr>
        <p:spPr>
          <a:xfrm>
            <a:off x="4754880" y="8046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 흐름도 상세</a:t>
            </a:r>
            <a:endParaRPr/>
          </a:p>
        </p:txBody>
      </p:sp>
      <p:sp>
        <p:nvSpPr>
          <p:cNvPr id="491" name="Google Shape;491;g3e9f56f8274_0_30"/>
          <p:cNvSpPr/>
          <p:nvPr/>
        </p:nvSpPr>
        <p:spPr>
          <a:xfrm>
            <a:off x="4754880" y="1115568"/>
            <a:ext cx="1051560" cy="38404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e9f56f8274_0_30"/>
          <p:cNvSpPr txBox="1"/>
          <p:nvPr/>
        </p:nvSpPr>
        <p:spPr>
          <a:xfrm>
            <a:off x="4754880" y="115214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촬영</a:t>
            </a:r>
            <a:endParaRPr/>
          </a:p>
        </p:txBody>
      </p:sp>
      <p:sp>
        <p:nvSpPr>
          <p:cNvPr id="493" name="Google Shape;493;g3e9f56f8274_0_30"/>
          <p:cNvSpPr/>
          <p:nvPr/>
        </p:nvSpPr>
        <p:spPr>
          <a:xfrm>
            <a:off x="5870448" y="1115568"/>
            <a:ext cx="2971800" cy="384048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e9f56f8274_0_30"/>
          <p:cNvSpPr txBox="1"/>
          <p:nvPr/>
        </p:nvSpPr>
        <p:spPr>
          <a:xfrm>
            <a:off x="5961888" y="1152144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카메라 가이드 → 전면 얼굴 촬영</a:t>
            </a:r>
            <a:endParaRPr/>
          </a:p>
        </p:txBody>
      </p:sp>
      <p:sp>
        <p:nvSpPr>
          <p:cNvPr id="495" name="Google Shape;495;g3e9f56f8274_0_30"/>
          <p:cNvSpPr txBox="1"/>
          <p:nvPr/>
        </p:nvSpPr>
        <p:spPr>
          <a:xfrm>
            <a:off x="504748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96" name="Google Shape;496;g3e9f56f8274_0_30"/>
          <p:cNvSpPr/>
          <p:nvPr/>
        </p:nvSpPr>
        <p:spPr>
          <a:xfrm>
            <a:off x="4754880" y="1636776"/>
            <a:ext cx="1051560" cy="384048"/>
          </a:xfrm>
          <a:prstGeom prst="rect">
            <a:avLst/>
          </a:prstGeom>
          <a:solidFill>
            <a:srgbClr val="157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e9f56f8274_0_30"/>
          <p:cNvSpPr txBox="1"/>
          <p:nvPr/>
        </p:nvSpPr>
        <p:spPr>
          <a:xfrm>
            <a:off x="4754880" y="167335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전처리</a:t>
            </a:r>
            <a:endParaRPr/>
          </a:p>
        </p:txBody>
      </p:sp>
      <p:sp>
        <p:nvSpPr>
          <p:cNvPr id="498" name="Google Shape;498;g3e9f56f8274_0_30"/>
          <p:cNvSpPr/>
          <p:nvPr/>
        </p:nvSpPr>
        <p:spPr>
          <a:xfrm>
            <a:off x="5870448" y="1636776"/>
            <a:ext cx="2971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e9f56f8274_0_30"/>
          <p:cNvSpPr txBox="1"/>
          <p:nvPr/>
        </p:nvSpPr>
        <p:spPr>
          <a:xfrm>
            <a:off x="5961888" y="1673352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OpenCV 왜곡·조도 보정, MediaPipe 배경 제거</a:t>
            </a:r>
            <a:endParaRPr/>
          </a:p>
        </p:txBody>
      </p:sp>
      <p:sp>
        <p:nvSpPr>
          <p:cNvPr id="500" name="Google Shape;500;g3e9f56f8274_0_30"/>
          <p:cNvSpPr txBox="1"/>
          <p:nvPr/>
        </p:nvSpPr>
        <p:spPr>
          <a:xfrm>
            <a:off x="5047488" y="20299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501" name="Google Shape;501;g3e9f56f8274_0_30"/>
          <p:cNvSpPr/>
          <p:nvPr/>
        </p:nvSpPr>
        <p:spPr>
          <a:xfrm>
            <a:off x="4754880" y="2157984"/>
            <a:ext cx="1051560" cy="38404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e9f56f8274_0_30"/>
          <p:cNvSpPr txBox="1"/>
          <p:nvPr/>
        </p:nvSpPr>
        <p:spPr>
          <a:xfrm>
            <a:off x="4754880" y="219456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YOLOv8</a:t>
            </a:r>
            <a:endParaRPr/>
          </a:p>
        </p:txBody>
      </p:sp>
      <p:sp>
        <p:nvSpPr>
          <p:cNvPr id="503" name="Google Shape;503;g3e9f56f8274_0_30"/>
          <p:cNvSpPr/>
          <p:nvPr/>
        </p:nvSpPr>
        <p:spPr>
          <a:xfrm>
            <a:off x="5870448" y="2157984"/>
            <a:ext cx="2971800" cy="384048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e9f56f8274_0_30"/>
          <p:cNvSpPr txBox="1"/>
          <p:nvPr/>
        </p:nvSpPr>
        <p:spPr>
          <a:xfrm>
            <a:off x="5961888" y="2194560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여드름·모공·홍조·피지 바운딩 박스 검출</a:t>
            </a:r>
            <a:endParaRPr/>
          </a:p>
        </p:txBody>
      </p:sp>
      <p:sp>
        <p:nvSpPr>
          <p:cNvPr id="505" name="Google Shape;505;g3e9f56f8274_0_30"/>
          <p:cNvSpPr txBox="1"/>
          <p:nvPr/>
        </p:nvSpPr>
        <p:spPr>
          <a:xfrm>
            <a:off x="5047488" y="255117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506" name="Google Shape;506;g3e9f56f8274_0_30"/>
          <p:cNvSpPr/>
          <p:nvPr/>
        </p:nvSpPr>
        <p:spPr>
          <a:xfrm>
            <a:off x="4754880" y="2679191"/>
            <a:ext cx="1051560" cy="384048"/>
          </a:xfrm>
          <a:prstGeom prst="rect">
            <a:avLst/>
          </a:prstGeom>
          <a:solidFill>
            <a:srgbClr val="157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e9f56f8274_0_30"/>
          <p:cNvSpPr txBox="1"/>
          <p:nvPr/>
        </p:nvSpPr>
        <p:spPr>
          <a:xfrm>
            <a:off x="4754880" y="271576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 점수화</a:t>
            </a:r>
            <a:endParaRPr/>
          </a:p>
        </p:txBody>
      </p:sp>
      <p:sp>
        <p:nvSpPr>
          <p:cNvPr id="508" name="Google Shape;508;g3e9f56f8274_0_30"/>
          <p:cNvSpPr/>
          <p:nvPr/>
        </p:nvSpPr>
        <p:spPr>
          <a:xfrm>
            <a:off x="5870448" y="2679191"/>
            <a:ext cx="2971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e9f56f8274_0_30"/>
          <p:cNvSpPr txBox="1"/>
          <p:nvPr/>
        </p:nvSpPr>
        <p:spPr>
          <a:xfrm>
            <a:off x="5961888" y="2715768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밀도·면적 계산 → 100점 기준 피부 점수 산출</a:t>
            </a:r>
            <a:endParaRPr/>
          </a:p>
        </p:txBody>
      </p:sp>
      <p:sp>
        <p:nvSpPr>
          <p:cNvPr id="510" name="Google Shape;510;g3e9f56f8274_0_30"/>
          <p:cNvSpPr txBox="1"/>
          <p:nvPr/>
        </p:nvSpPr>
        <p:spPr>
          <a:xfrm>
            <a:off x="5047488" y="307238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511" name="Google Shape;511;g3e9f56f8274_0_30"/>
          <p:cNvSpPr/>
          <p:nvPr/>
        </p:nvSpPr>
        <p:spPr>
          <a:xfrm>
            <a:off x="4754880" y="3200400"/>
            <a:ext cx="1051560" cy="38404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e9f56f8274_0_30"/>
          <p:cNvSpPr txBox="1"/>
          <p:nvPr/>
        </p:nvSpPr>
        <p:spPr>
          <a:xfrm>
            <a:off x="4754880" y="323697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 LLM</a:t>
            </a:r>
            <a:endParaRPr/>
          </a:p>
        </p:txBody>
      </p:sp>
      <p:sp>
        <p:nvSpPr>
          <p:cNvPr id="513" name="Google Shape;513;g3e9f56f8274_0_30"/>
          <p:cNvSpPr/>
          <p:nvPr/>
        </p:nvSpPr>
        <p:spPr>
          <a:xfrm>
            <a:off x="5870448" y="3200400"/>
            <a:ext cx="2971800" cy="384048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g3e9f56f8274_0_30"/>
          <p:cNvSpPr txBox="1"/>
          <p:nvPr/>
        </p:nvSpPr>
        <p:spPr>
          <a:xfrm>
            <a:off x="5961888" y="323697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피부 점수 + 성분 JSON → 맞춤 리포트 생성</a:t>
            </a:r>
            <a:endParaRPr/>
          </a:p>
        </p:txBody>
      </p:sp>
      <p:sp>
        <p:nvSpPr>
          <p:cNvPr id="515" name="Google Shape;515;g3e9f56f8274_0_30"/>
          <p:cNvSpPr txBox="1"/>
          <p:nvPr/>
        </p:nvSpPr>
        <p:spPr>
          <a:xfrm>
            <a:off x="5047488" y="3593592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516" name="Google Shape;516;g3e9f56f8274_0_30"/>
          <p:cNvSpPr/>
          <p:nvPr/>
        </p:nvSpPr>
        <p:spPr>
          <a:xfrm>
            <a:off x="4754880" y="3721607"/>
            <a:ext cx="1051560" cy="384048"/>
          </a:xfrm>
          <a:prstGeom prst="rect">
            <a:avLst/>
          </a:prstGeom>
          <a:solidFill>
            <a:srgbClr val="157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e9f56f8274_0_30"/>
          <p:cNvSpPr txBox="1"/>
          <p:nvPr/>
        </p:nvSpPr>
        <p:spPr>
          <a:xfrm>
            <a:off x="4754880" y="3758183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 DB 저장</a:t>
            </a:r>
            <a:endParaRPr/>
          </a:p>
        </p:txBody>
      </p:sp>
      <p:sp>
        <p:nvSpPr>
          <p:cNvPr id="518" name="Google Shape;518;g3e9f56f8274_0_30"/>
          <p:cNvSpPr/>
          <p:nvPr/>
        </p:nvSpPr>
        <p:spPr>
          <a:xfrm>
            <a:off x="5870448" y="3721607"/>
            <a:ext cx="2971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e9f56f8274_0_30"/>
          <p:cNvSpPr txBox="1"/>
          <p:nvPr/>
        </p:nvSpPr>
        <p:spPr>
          <a:xfrm>
            <a:off x="5961888" y="3758183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PostgreSQL 히스토리 테이블 저장</a:t>
            </a:r>
            <a:endParaRPr/>
          </a:p>
        </p:txBody>
      </p:sp>
      <p:sp>
        <p:nvSpPr>
          <p:cNvPr id="520" name="Google Shape;520;g3e9f56f8274_0_30"/>
          <p:cNvSpPr txBox="1"/>
          <p:nvPr/>
        </p:nvSpPr>
        <p:spPr>
          <a:xfrm>
            <a:off x="5047488" y="4114799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521" name="Google Shape;521;g3e9f56f8274_0_30"/>
          <p:cNvSpPr/>
          <p:nvPr/>
        </p:nvSpPr>
        <p:spPr>
          <a:xfrm>
            <a:off x="4754880" y="4242816"/>
            <a:ext cx="1051560" cy="38404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g3e9f56f8274_0_30"/>
          <p:cNvSpPr txBox="1"/>
          <p:nvPr/>
        </p:nvSpPr>
        <p:spPr>
          <a:xfrm>
            <a:off x="4754880" y="427939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⑦ 출력</a:t>
            </a:r>
            <a:endParaRPr/>
          </a:p>
        </p:txBody>
      </p:sp>
      <p:sp>
        <p:nvSpPr>
          <p:cNvPr id="523" name="Google Shape;523;g3e9f56f8274_0_30"/>
          <p:cNvSpPr/>
          <p:nvPr/>
        </p:nvSpPr>
        <p:spPr>
          <a:xfrm>
            <a:off x="5870448" y="4242816"/>
            <a:ext cx="2971800" cy="384048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g3e9f56f8274_0_30"/>
          <p:cNvSpPr txBox="1"/>
          <p:nvPr/>
        </p:nvSpPr>
        <p:spPr>
          <a:xfrm>
            <a:off x="5961888" y="4279392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앱 화면 렌더링 · 대시보드 업데이트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데이터 베이스 설계</a:t>
            </a:r>
            <a:endParaRPr/>
          </a:p>
        </p:txBody>
      </p:sp>
      <p:sp>
        <p:nvSpPr>
          <p:cNvPr id="531" name="Google Shape;531;p24"/>
          <p:cNvSpPr/>
          <p:nvPr/>
        </p:nvSpPr>
        <p:spPr>
          <a:xfrm>
            <a:off x="475488" y="60350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ER 다이어그램 · PostgreSQL 관계형 DB · user_id(UUID) 기준 연결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400000" y="870000"/>
            <a:ext cx="2100000" cy="270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/>
          </a:p>
        </p:txBody>
      </p:sp>
      <p:sp>
        <p:nvSpPr>
          <p:cNvPr id="534" name="Google Shape;534;p24"/>
          <p:cNvSpPr/>
          <p:nvPr/>
        </p:nvSpPr>
        <p:spPr>
          <a:xfrm>
            <a:off x="400000" y="114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uuid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400000" y="135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/>
          </a:p>
        </p:txBody>
      </p:sp>
      <p:sp>
        <p:nvSpPr>
          <p:cNvPr id="536" name="Google Shape;536;p24"/>
          <p:cNvSpPr/>
          <p:nvPr/>
        </p:nvSpPr>
        <p:spPr>
          <a:xfrm>
            <a:off x="400000" y="156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password_hash</a:t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400000" y="177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skin_type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400000" y="198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text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allergies</a:t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400000" y="870000"/>
            <a:ext cx="2100000" cy="1320000"/>
          </a:xfrm>
          <a:prstGeom prst="rect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4"/>
          <p:cNvSpPr/>
          <p:nvPr/>
        </p:nvSpPr>
        <p:spPr>
          <a:xfrm>
            <a:off x="5900000" y="870000"/>
            <a:ext cx="2100000" cy="270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5900000" y="114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product_id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5900000" y="135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product_name</a:t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5900000" y="156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text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ingredients</a:t>
            </a:r>
            <a:endParaRPr/>
          </a:p>
        </p:txBody>
      </p:sp>
      <p:sp>
        <p:nvSpPr>
          <p:cNvPr id="544" name="Google Shape;544;p24"/>
          <p:cNvSpPr/>
          <p:nvPr/>
        </p:nvSpPr>
        <p:spPr>
          <a:xfrm>
            <a:off x="5900000" y="177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5900000" y="870000"/>
            <a:ext cx="2100000" cy="1110000"/>
          </a:xfrm>
          <a:prstGeom prst="rect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00000" y="2490000"/>
            <a:ext cx="2100000" cy="270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SKIN_ANALYSIS</a:t>
            </a:r>
            <a:endParaRPr/>
          </a:p>
        </p:txBody>
      </p:sp>
      <p:sp>
        <p:nvSpPr>
          <p:cNvPr id="547" name="Google Shape;547;p24"/>
          <p:cNvSpPr/>
          <p:nvPr/>
        </p:nvSpPr>
        <p:spPr>
          <a:xfrm>
            <a:off x="400000" y="276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bigint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analysis_id</a:t>
            </a:r>
            <a:endParaRPr/>
          </a:p>
        </p:txBody>
      </p:sp>
      <p:sp>
        <p:nvSpPr>
          <p:cNvPr id="548" name="Google Shape;548;p24"/>
          <p:cNvSpPr/>
          <p:nvPr/>
        </p:nvSpPr>
        <p:spPr>
          <a:xfrm>
            <a:off x="400000" y="297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uuid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400000" y="318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timestamp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created_at</a:t>
            </a:r>
            <a:endParaRPr/>
          </a:p>
        </p:txBody>
      </p:sp>
      <p:sp>
        <p:nvSpPr>
          <p:cNvPr id="550" name="Google Shape;550;p24"/>
          <p:cNvSpPr/>
          <p:nvPr/>
        </p:nvSpPr>
        <p:spPr>
          <a:xfrm>
            <a:off x="400000" y="339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varchar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image_url</a:t>
            </a:r>
            <a:endParaRPr/>
          </a:p>
        </p:txBody>
      </p:sp>
      <p:sp>
        <p:nvSpPr>
          <p:cNvPr id="551" name="Google Shape;551;p24"/>
          <p:cNvSpPr/>
          <p:nvPr/>
        </p:nvSpPr>
        <p:spPr>
          <a:xfrm>
            <a:off x="400000" y="360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score_total</a:t>
            </a:r>
            <a:endParaRPr/>
          </a:p>
        </p:txBody>
      </p:sp>
      <p:sp>
        <p:nvSpPr>
          <p:cNvPr id="552" name="Google Shape;552;p24"/>
          <p:cNvSpPr/>
          <p:nvPr/>
        </p:nvSpPr>
        <p:spPr>
          <a:xfrm>
            <a:off x="400000" y="381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score_acne</a:t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400000" y="402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score_pore</a:t>
            </a: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400000" y="423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score_redness</a:t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400000" y="444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score_sebum</a:t>
            </a:r>
            <a:endParaRPr/>
          </a:p>
        </p:txBody>
      </p:sp>
      <p:sp>
        <p:nvSpPr>
          <p:cNvPr id="556" name="Google Shape;556;p24"/>
          <p:cNvSpPr/>
          <p:nvPr/>
        </p:nvSpPr>
        <p:spPr>
          <a:xfrm>
            <a:off x="400000" y="465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text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llm_report</a:t>
            </a:r>
            <a:endParaRPr/>
          </a:p>
        </p:txBody>
      </p:sp>
      <p:sp>
        <p:nvSpPr>
          <p:cNvPr id="557" name="Google Shape;557;p24"/>
          <p:cNvSpPr/>
          <p:nvPr/>
        </p:nvSpPr>
        <p:spPr>
          <a:xfrm>
            <a:off x="400000" y="2490000"/>
            <a:ext cx="2100000" cy="2370000"/>
          </a:xfrm>
          <a:prstGeom prst="rect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5900000" y="2280000"/>
            <a:ext cx="2100000" cy="27000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USER_CABINET</a:t>
            </a:r>
            <a:endParaRPr/>
          </a:p>
        </p:txBody>
      </p:sp>
      <p:sp>
        <p:nvSpPr>
          <p:cNvPr id="559" name="Google Shape;559;p24"/>
          <p:cNvSpPr/>
          <p:nvPr/>
        </p:nvSpPr>
        <p:spPr>
          <a:xfrm>
            <a:off x="5900000" y="255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PK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cabinet_id</a:t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5900000" y="276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uuid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5900000" y="2970000"/>
            <a:ext cx="2100000" cy="2100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FK  </a:t>
            </a: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product_id</a:t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5900000" y="3180000"/>
            <a:ext cx="2100000" cy="21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boolean  </a:t>
            </a:r>
            <a:r>
              <a:rPr b="0" i="0" lang="en-US" sz="9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is_in_routine</a:t>
            </a:r>
            <a:endParaRPr/>
          </a:p>
        </p:txBody>
      </p:sp>
      <p:sp>
        <p:nvSpPr>
          <p:cNvPr id="563" name="Google Shape;563;p24"/>
          <p:cNvSpPr/>
          <p:nvPr/>
        </p:nvSpPr>
        <p:spPr>
          <a:xfrm>
            <a:off x="5900000" y="2280000"/>
            <a:ext cx="2100000" cy="1110000"/>
          </a:xfrm>
          <a:prstGeom prst="rect">
            <a:avLst/>
          </a:prstGeom>
          <a:noFill/>
          <a:ln cap="flat" cmpd="sng" w="19050">
            <a:solidFill>
              <a:srgbClr val="3A7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4"/>
          <p:cNvSpPr/>
          <p:nvPr/>
        </p:nvSpPr>
        <p:spPr>
          <a:xfrm>
            <a:off x="1679575" y="2209950"/>
            <a:ext cx="6000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6000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기록</a:t>
            </a:r>
            <a:endParaRPr/>
          </a:p>
        </p:txBody>
      </p:sp>
      <p:sp>
        <p:nvSpPr>
          <p:cNvPr id="565" name="Google Shape;565;p24"/>
          <p:cNvSpPr/>
          <p:nvPr/>
        </p:nvSpPr>
        <p:spPr>
          <a:xfrm>
            <a:off x="7166925" y="2000000"/>
            <a:ext cx="5001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6000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등록</a:t>
            </a:r>
            <a:r>
              <a:rPr b="0" i="0" lang="en-US" sz="8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됨</a:t>
            </a:r>
            <a:endParaRPr/>
          </a:p>
        </p:txBody>
      </p:sp>
      <p:sp>
        <p:nvSpPr>
          <p:cNvPr id="566" name="Google Shape;566;p24"/>
          <p:cNvSpPr/>
          <p:nvPr/>
        </p:nvSpPr>
        <p:spPr>
          <a:xfrm>
            <a:off x="3600000" y="1270000"/>
            <a:ext cx="600000" cy="2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6000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소상 제품</a:t>
            </a:r>
            <a:endParaRPr/>
          </a:p>
        </p:txBody>
      </p:sp>
      <p:sp>
        <p:nvSpPr>
          <p:cNvPr id="567" name="Google Shape;567;p24"/>
          <p:cNvSpPr/>
          <p:nvPr/>
        </p:nvSpPr>
        <p:spPr>
          <a:xfrm>
            <a:off x="5400000" y="3953175"/>
            <a:ext cx="2600100" cy="2799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60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Primary Key     </a:t>
            </a:r>
            <a:r>
              <a:rPr b="1" i="0" lang="en-US" sz="900" u="none" cap="none" strike="noStrike">
                <a:solidFill>
                  <a:srgbClr val="E07B2A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Foreign Key</a:t>
            </a:r>
            <a:endParaRPr/>
          </a:p>
        </p:txBody>
      </p:sp>
      <p:cxnSp>
        <p:nvCxnSpPr>
          <p:cNvPr id="568" name="Google Shape;568;p24"/>
          <p:cNvCxnSpPr>
            <a:stCxn id="539" idx="2"/>
            <a:endCxn id="557" idx="0"/>
          </p:cNvCxnSpPr>
          <p:nvPr/>
        </p:nvCxnSpPr>
        <p:spPr>
          <a:xfrm>
            <a:off x="1450000" y="219000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24"/>
          <p:cNvCxnSpPr>
            <a:endCxn id="563" idx="1"/>
          </p:cNvCxnSpPr>
          <p:nvPr/>
        </p:nvCxnSpPr>
        <p:spPr>
          <a:xfrm>
            <a:off x="2477000" y="1541700"/>
            <a:ext cx="3423000" cy="129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24"/>
          <p:cNvCxnSpPr>
            <a:endCxn id="563" idx="0"/>
          </p:cNvCxnSpPr>
          <p:nvPr/>
        </p:nvCxnSpPr>
        <p:spPr>
          <a:xfrm>
            <a:off x="6938000" y="1958700"/>
            <a:ext cx="12000" cy="32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9"/>
          <p:cNvSpPr/>
          <p:nvPr/>
        </p:nvSpPr>
        <p:spPr>
          <a:xfrm>
            <a:off x="320040" y="164592"/>
            <a:ext cx="64008" cy="347472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9"/>
          <p:cNvSpPr txBox="1"/>
          <p:nvPr/>
        </p:nvSpPr>
        <p:spPr>
          <a:xfrm>
            <a:off x="484632" y="15544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데이터베이스 설계</a:t>
            </a:r>
            <a:endParaRPr/>
          </a:p>
        </p:txBody>
      </p:sp>
      <p:sp>
        <p:nvSpPr>
          <p:cNvPr id="578" name="Google Shape;578;p19"/>
          <p:cNvSpPr txBox="1"/>
          <p:nvPr/>
        </p:nvSpPr>
        <p:spPr>
          <a:xfrm>
            <a:off x="484632" y="5120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ER 다이어그램 · 테이블 구조 · 주요 필드 설명 (PostgreSQL)</a:t>
            </a:r>
            <a:endParaRPr/>
          </a:p>
        </p:txBody>
      </p:sp>
      <p:sp>
        <p:nvSpPr>
          <p:cNvPr id="579" name="Google Shape;579;p19"/>
          <p:cNvSpPr txBox="1"/>
          <p:nvPr/>
        </p:nvSpPr>
        <p:spPr>
          <a:xfrm>
            <a:off x="320040" y="795528"/>
            <a:ext cx="8503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관계형 DB(PostgreSQL) — 4개 주요 테이블 · user_id(UUID) 기준으로 분석 히스토리 · 소장 제품 서랍 연결</a:t>
            </a:r>
            <a:endParaRPr/>
          </a:p>
        </p:txBody>
      </p:sp>
      <p:sp>
        <p:nvSpPr>
          <p:cNvPr id="580" name="Google Shape;580;p19"/>
          <p:cNvSpPr/>
          <p:nvPr/>
        </p:nvSpPr>
        <p:spPr>
          <a:xfrm>
            <a:off x="320040" y="1069848"/>
            <a:ext cx="4114800" cy="19019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320040" y="1069848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9"/>
          <p:cNvSpPr txBox="1"/>
          <p:nvPr/>
        </p:nvSpPr>
        <p:spPr>
          <a:xfrm>
            <a:off x="429768" y="112471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>
            <a:off x="320040" y="1408176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9"/>
          <p:cNvSpPr txBox="1"/>
          <p:nvPr/>
        </p:nvSpPr>
        <p:spPr>
          <a:xfrm>
            <a:off x="411479" y="1435608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user_id</a:t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>
            <a:off x="1645919" y="1453896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9"/>
          <p:cNvSpPr txBox="1"/>
          <p:nvPr/>
        </p:nvSpPr>
        <p:spPr>
          <a:xfrm>
            <a:off x="1645919" y="144475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PK</a:t>
            </a:r>
            <a:endParaRPr/>
          </a:p>
        </p:txBody>
      </p:sp>
      <p:sp>
        <p:nvSpPr>
          <p:cNvPr id="587" name="Google Shape;587;p19"/>
          <p:cNvSpPr txBox="1"/>
          <p:nvPr/>
        </p:nvSpPr>
        <p:spPr>
          <a:xfrm>
            <a:off x="2478024" y="1435608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사용자 고유 식별자</a:t>
            </a:r>
            <a:endParaRPr/>
          </a:p>
        </p:txBody>
      </p:sp>
      <p:sp>
        <p:nvSpPr>
          <p:cNvPr id="588" name="Google Shape;588;p19"/>
          <p:cNvSpPr txBox="1"/>
          <p:nvPr/>
        </p:nvSpPr>
        <p:spPr>
          <a:xfrm>
            <a:off x="411479" y="1696212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/>
          </a:p>
        </p:txBody>
      </p:sp>
      <p:sp>
        <p:nvSpPr>
          <p:cNvPr id="589" name="Google Shape;589;p19"/>
          <p:cNvSpPr/>
          <p:nvPr/>
        </p:nvSpPr>
        <p:spPr>
          <a:xfrm>
            <a:off x="1645919" y="1714500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9"/>
          <p:cNvSpPr txBox="1"/>
          <p:nvPr/>
        </p:nvSpPr>
        <p:spPr>
          <a:xfrm>
            <a:off x="1645919" y="1705356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/>
          </a:p>
        </p:txBody>
      </p:sp>
      <p:sp>
        <p:nvSpPr>
          <p:cNvPr id="591" name="Google Shape;591;p19"/>
          <p:cNvSpPr txBox="1"/>
          <p:nvPr/>
        </p:nvSpPr>
        <p:spPr>
          <a:xfrm>
            <a:off x="2478024" y="1696212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로그인 이메일</a:t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320040" y="1929384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9"/>
          <p:cNvSpPr txBox="1"/>
          <p:nvPr/>
        </p:nvSpPr>
        <p:spPr>
          <a:xfrm>
            <a:off x="411479" y="1956815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skin_type</a:t>
            </a:r>
            <a:endParaRPr/>
          </a:p>
        </p:txBody>
      </p:sp>
      <p:sp>
        <p:nvSpPr>
          <p:cNvPr id="594" name="Google Shape;594;p19"/>
          <p:cNvSpPr/>
          <p:nvPr/>
        </p:nvSpPr>
        <p:spPr>
          <a:xfrm>
            <a:off x="1645919" y="1975103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9"/>
          <p:cNvSpPr txBox="1"/>
          <p:nvPr/>
        </p:nvSpPr>
        <p:spPr>
          <a:xfrm>
            <a:off x="1645919" y="1965960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/>
          </a:p>
        </p:txBody>
      </p:sp>
      <p:sp>
        <p:nvSpPr>
          <p:cNvPr id="596" name="Google Shape;596;p19"/>
          <p:cNvSpPr txBox="1"/>
          <p:nvPr/>
        </p:nvSpPr>
        <p:spPr>
          <a:xfrm>
            <a:off x="2478024" y="1956815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피부 타입 (건성/지성/복합)</a:t>
            </a:r>
            <a:endParaRPr/>
          </a:p>
        </p:txBody>
      </p:sp>
      <p:sp>
        <p:nvSpPr>
          <p:cNvPr id="597" name="Google Shape;597;p19"/>
          <p:cNvSpPr txBox="1"/>
          <p:nvPr/>
        </p:nvSpPr>
        <p:spPr>
          <a:xfrm>
            <a:off x="411479" y="2217420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allergies</a:t>
            </a:r>
            <a:endParaRPr/>
          </a:p>
        </p:txBody>
      </p:sp>
      <p:sp>
        <p:nvSpPr>
          <p:cNvPr id="598" name="Google Shape;598;p19"/>
          <p:cNvSpPr/>
          <p:nvPr/>
        </p:nvSpPr>
        <p:spPr>
          <a:xfrm>
            <a:off x="1645919" y="223570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9"/>
          <p:cNvSpPr txBox="1"/>
          <p:nvPr/>
        </p:nvSpPr>
        <p:spPr>
          <a:xfrm>
            <a:off x="1645919" y="222656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TEXT[]</a:t>
            </a:r>
            <a:endParaRPr/>
          </a:p>
        </p:txBody>
      </p:sp>
      <p:sp>
        <p:nvSpPr>
          <p:cNvPr id="600" name="Google Shape;600;p19"/>
          <p:cNvSpPr txBox="1"/>
          <p:nvPr/>
        </p:nvSpPr>
        <p:spPr>
          <a:xfrm>
            <a:off x="2478024" y="2217420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알레르기 성분 배열</a:t>
            </a:r>
            <a:endParaRPr/>
          </a:p>
        </p:txBody>
      </p:sp>
      <p:sp>
        <p:nvSpPr>
          <p:cNvPr id="601" name="Google Shape;601;p19"/>
          <p:cNvSpPr/>
          <p:nvPr/>
        </p:nvSpPr>
        <p:spPr>
          <a:xfrm>
            <a:off x="320040" y="2450591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9"/>
          <p:cNvSpPr txBox="1"/>
          <p:nvPr/>
        </p:nvSpPr>
        <p:spPr>
          <a:xfrm>
            <a:off x="411479" y="2478023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concerns</a:t>
            </a:r>
            <a:endParaRPr/>
          </a:p>
        </p:txBody>
      </p:sp>
      <p:sp>
        <p:nvSpPr>
          <p:cNvPr id="603" name="Google Shape;603;p19"/>
          <p:cNvSpPr/>
          <p:nvPr/>
        </p:nvSpPr>
        <p:spPr>
          <a:xfrm>
            <a:off x="1645919" y="2496311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9"/>
          <p:cNvSpPr txBox="1"/>
          <p:nvPr/>
        </p:nvSpPr>
        <p:spPr>
          <a:xfrm>
            <a:off x="1645919" y="2487168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TEXT[]</a:t>
            </a:r>
            <a:endParaRPr/>
          </a:p>
        </p:txBody>
      </p:sp>
      <p:sp>
        <p:nvSpPr>
          <p:cNvPr id="605" name="Google Shape;605;p19"/>
          <p:cNvSpPr txBox="1"/>
          <p:nvPr/>
        </p:nvSpPr>
        <p:spPr>
          <a:xfrm>
            <a:off x="2478024" y="2478023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피부 고민 태그</a:t>
            </a:r>
            <a:endParaRPr/>
          </a:p>
        </p:txBody>
      </p:sp>
      <p:sp>
        <p:nvSpPr>
          <p:cNvPr id="606" name="Google Shape;606;p19"/>
          <p:cNvSpPr txBox="1"/>
          <p:nvPr/>
        </p:nvSpPr>
        <p:spPr>
          <a:xfrm>
            <a:off x="411479" y="2738627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created_at</a:t>
            </a:r>
            <a:endParaRPr/>
          </a:p>
        </p:txBody>
      </p:sp>
      <p:sp>
        <p:nvSpPr>
          <p:cNvPr id="607" name="Google Shape;607;p19"/>
          <p:cNvSpPr/>
          <p:nvPr/>
        </p:nvSpPr>
        <p:spPr>
          <a:xfrm>
            <a:off x="1645919" y="2756915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9"/>
          <p:cNvSpPr txBox="1"/>
          <p:nvPr/>
        </p:nvSpPr>
        <p:spPr>
          <a:xfrm>
            <a:off x="1645919" y="274777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/>
          </a:p>
        </p:txBody>
      </p:sp>
      <p:sp>
        <p:nvSpPr>
          <p:cNvPr id="609" name="Google Shape;609;p19"/>
          <p:cNvSpPr txBox="1"/>
          <p:nvPr/>
        </p:nvSpPr>
        <p:spPr>
          <a:xfrm>
            <a:off x="2478024" y="2738627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가입 일시</a:t>
            </a:r>
            <a:endParaRPr/>
          </a:p>
        </p:txBody>
      </p:sp>
      <p:sp>
        <p:nvSpPr>
          <p:cNvPr id="610" name="Google Shape;610;p19"/>
          <p:cNvSpPr/>
          <p:nvPr/>
        </p:nvSpPr>
        <p:spPr>
          <a:xfrm>
            <a:off x="4709160" y="1069848"/>
            <a:ext cx="4114800" cy="19019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9"/>
          <p:cNvSpPr/>
          <p:nvPr/>
        </p:nvSpPr>
        <p:spPr>
          <a:xfrm>
            <a:off x="4709160" y="1069848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9"/>
          <p:cNvSpPr txBox="1"/>
          <p:nvPr/>
        </p:nvSpPr>
        <p:spPr>
          <a:xfrm>
            <a:off x="4818888" y="1124712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skin_analysis</a:t>
            </a:r>
            <a:endParaRPr/>
          </a:p>
        </p:txBody>
      </p:sp>
      <p:sp>
        <p:nvSpPr>
          <p:cNvPr id="613" name="Google Shape;613;p19"/>
          <p:cNvSpPr/>
          <p:nvPr/>
        </p:nvSpPr>
        <p:spPr>
          <a:xfrm>
            <a:off x="4709160" y="1408176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9"/>
          <p:cNvSpPr txBox="1"/>
          <p:nvPr/>
        </p:nvSpPr>
        <p:spPr>
          <a:xfrm>
            <a:off x="4800600" y="1435608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analysis_id</a:t>
            </a:r>
            <a:endParaRPr/>
          </a:p>
        </p:txBody>
      </p:sp>
      <p:sp>
        <p:nvSpPr>
          <p:cNvPr id="615" name="Google Shape;615;p19"/>
          <p:cNvSpPr/>
          <p:nvPr/>
        </p:nvSpPr>
        <p:spPr>
          <a:xfrm>
            <a:off x="6035040" y="1453896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 txBox="1"/>
          <p:nvPr/>
        </p:nvSpPr>
        <p:spPr>
          <a:xfrm>
            <a:off x="6035040" y="144475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PK</a:t>
            </a:r>
            <a:endParaRPr/>
          </a:p>
        </p:txBody>
      </p:sp>
      <p:sp>
        <p:nvSpPr>
          <p:cNvPr id="617" name="Google Shape;617;p19"/>
          <p:cNvSpPr txBox="1"/>
          <p:nvPr/>
        </p:nvSpPr>
        <p:spPr>
          <a:xfrm>
            <a:off x="6867144" y="1435608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진단 고유 식별자</a:t>
            </a:r>
            <a:endParaRPr/>
          </a:p>
        </p:txBody>
      </p:sp>
      <p:sp>
        <p:nvSpPr>
          <p:cNvPr id="618" name="Google Shape;618;p19"/>
          <p:cNvSpPr txBox="1"/>
          <p:nvPr/>
        </p:nvSpPr>
        <p:spPr>
          <a:xfrm>
            <a:off x="4800600" y="1696212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user_id</a:t>
            </a:r>
            <a:endParaRPr/>
          </a:p>
        </p:txBody>
      </p:sp>
      <p:sp>
        <p:nvSpPr>
          <p:cNvPr id="619" name="Google Shape;619;p19"/>
          <p:cNvSpPr/>
          <p:nvPr/>
        </p:nvSpPr>
        <p:spPr>
          <a:xfrm>
            <a:off x="6035040" y="1714500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9"/>
          <p:cNvSpPr txBox="1"/>
          <p:nvPr/>
        </p:nvSpPr>
        <p:spPr>
          <a:xfrm>
            <a:off x="6035040" y="1705356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FK</a:t>
            </a:r>
            <a:endParaRPr/>
          </a:p>
        </p:txBody>
      </p:sp>
      <p:sp>
        <p:nvSpPr>
          <p:cNvPr id="621" name="Google Shape;621;p19"/>
          <p:cNvSpPr txBox="1"/>
          <p:nvPr/>
        </p:nvSpPr>
        <p:spPr>
          <a:xfrm>
            <a:off x="6867144" y="1696212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users 테이블 참조</a:t>
            </a:r>
            <a:endParaRPr/>
          </a:p>
        </p:txBody>
      </p:sp>
      <p:sp>
        <p:nvSpPr>
          <p:cNvPr id="622" name="Google Shape;622;p19"/>
          <p:cNvSpPr/>
          <p:nvPr/>
        </p:nvSpPr>
        <p:spPr>
          <a:xfrm>
            <a:off x="4709160" y="1929384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9"/>
          <p:cNvSpPr txBox="1"/>
          <p:nvPr/>
        </p:nvSpPr>
        <p:spPr>
          <a:xfrm>
            <a:off x="4800600" y="1956815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acne_score</a:t>
            </a:r>
            <a:endParaRPr/>
          </a:p>
        </p:txBody>
      </p:sp>
      <p:sp>
        <p:nvSpPr>
          <p:cNvPr id="624" name="Google Shape;624;p19"/>
          <p:cNvSpPr/>
          <p:nvPr/>
        </p:nvSpPr>
        <p:spPr>
          <a:xfrm>
            <a:off x="6035040" y="1975103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9"/>
          <p:cNvSpPr txBox="1"/>
          <p:nvPr/>
        </p:nvSpPr>
        <p:spPr>
          <a:xfrm>
            <a:off x="6035040" y="1965960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/>
          </a:p>
        </p:txBody>
      </p:sp>
      <p:sp>
        <p:nvSpPr>
          <p:cNvPr id="626" name="Google Shape;626;p19"/>
          <p:cNvSpPr txBox="1"/>
          <p:nvPr/>
        </p:nvSpPr>
        <p:spPr>
          <a:xfrm>
            <a:off x="6867144" y="1956815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여드름 점수 (0~100)</a:t>
            </a:r>
            <a:endParaRPr/>
          </a:p>
        </p:txBody>
      </p:sp>
      <p:sp>
        <p:nvSpPr>
          <p:cNvPr id="627" name="Google Shape;627;p19"/>
          <p:cNvSpPr txBox="1"/>
          <p:nvPr/>
        </p:nvSpPr>
        <p:spPr>
          <a:xfrm>
            <a:off x="4800600" y="2217420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pore_score</a:t>
            </a:r>
            <a:endParaRPr/>
          </a:p>
        </p:txBody>
      </p:sp>
      <p:sp>
        <p:nvSpPr>
          <p:cNvPr id="628" name="Google Shape;628;p19"/>
          <p:cNvSpPr/>
          <p:nvPr/>
        </p:nvSpPr>
        <p:spPr>
          <a:xfrm>
            <a:off x="6035040" y="223570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9"/>
          <p:cNvSpPr txBox="1"/>
          <p:nvPr/>
        </p:nvSpPr>
        <p:spPr>
          <a:xfrm>
            <a:off x="6035040" y="222656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/>
          </a:p>
        </p:txBody>
      </p:sp>
      <p:sp>
        <p:nvSpPr>
          <p:cNvPr id="630" name="Google Shape;630;p19"/>
          <p:cNvSpPr txBox="1"/>
          <p:nvPr/>
        </p:nvSpPr>
        <p:spPr>
          <a:xfrm>
            <a:off x="6867144" y="2217420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모공 점수 (0~100)</a:t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4709160" y="2450591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9"/>
          <p:cNvSpPr txBox="1"/>
          <p:nvPr/>
        </p:nvSpPr>
        <p:spPr>
          <a:xfrm>
            <a:off x="4800600" y="2478023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redness_score</a:t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6035040" y="2496311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9"/>
          <p:cNvSpPr txBox="1"/>
          <p:nvPr/>
        </p:nvSpPr>
        <p:spPr>
          <a:xfrm>
            <a:off x="6035040" y="2487168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endParaRPr/>
          </a:p>
        </p:txBody>
      </p:sp>
      <p:sp>
        <p:nvSpPr>
          <p:cNvPr id="635" name="Google Shape;635;p19"/>
          <p:cNvSpPr txBox="1"/>
          <p:nvPr/>
        </p:nvSpPr>
        <p:spPr>
          <a:xfrm>
            <a:off x="6867144" y="2478023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홍조 점수 (0~100)</a:t>
            </a:r>
            <a:endParaRPr/>
          </a:p>
        </p:txBody>
      </p:sp>
      <p:sp>
        <p:nvSpPr>
          <p:cNvPr id="636" name="Google Shape;636;p19"/>
          <p:cNvSpPr txBox="1"/>
          <p:nvPr/>
        </p:nvSpPr>
        <p:spPr>
          <a:xfrm>
            <a:off x="4800600" y="2738627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llm_report</a:t>
            </a:r>
            <a:endParaRPr/>
          </a:p>
        </p:txBody>
      </p:sp>
      <p:sp>
        <p:nvSpPr>
          <p:cNvPr id="637" name="Google Shape;637;p19"/>
          <p:cNvSpPr/>
          <p:nvPr/>
        </p:nvSpPr>
        <p:spPr>
          <a:xfrm>
            <a:off x="6035040" y="2756915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9"/>
          <p:cNvSpPr txBox="1"/>
          <p:nvPr/>
        </p:nvSpPr>
        <p:spPr>
          <a:xfrm>
            <a:off x="6035040" y="274777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JSONB</a:t>
            </a:r>
            <a:endParaRPr/>
          </a:p>
        </p:txBody>
      </p:sp>
      <p:sp>
        <p:nvSpPr>
          <p:cNvPr id="639" name="Google Shape;639;p19"/>
          <p:cNvSpPr txBox="1"/>
          <p:nvPr/>
        </p:nvSpPr>
        <p:spPr>
          <a:xfrm>
            <a:off x="6867144" y="2738627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LLM 생성 리포트 JSON</a:t>
            </a:r>
            <a:endParaRPr/>
          </a:p>
        </p:txBody>
      </p:sp>
      <p:sp>
        <p:nvSpPr>
          <p:cNvPr id="640" name="Google Shape;640;p19"/>
          <p:cNvSpPr/>
          <p:nvPr/>
        </p:nvSpPr>
        <p:spPr>
          <a:xfrm>
            <a:off x="320040" y="3017520"/>
            <a:ext cx="4114800" cy="19019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320040" y="3017520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9"/>
          <p:cNvSpPr txBox="1"/>
          <p:nvPr/>
        </p:nvSpPr>
        <p:spPr>
          <a:xfrm>
            <a:off x="429768" y="3072384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cosmetics</a:t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320040" y="3355848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9"/>
          <p:cNvSpPr txBox="1"/>
          <p:nvPr/>
        </p:nvSpPr>
        <p:spPr>
          <a:xfrm>
            <a:off x="411479" y="3383279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product_id</a:t>
            </a:r>
            <a:endParaRPr/>
          </a:p>
        </p:txBody>
      </p:sp>
      <p:sp>
        <p:nvSpPr>
          <p:cNvPr id="645" name="Google Shape;645;p19"/>
          <p:cNvSpPr/>
          <p:nvPr/>
        </p:nvSpPr>
        <p:spPr>
          <a:xfrm>
            <a:off x="1645919" y="340156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9"/>
          <p:cNvSpPr txBox="1"/>
          <p:nvPr/>
        </p:nvSpPr>
        <p:spPr>
          <a:xfrm>
            <a:off x="1645919" y="339242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PK</a:t>
            </a:r>
            <a:endParaRPr/>
          </a:p>
        </p:txBody>
      </p:sp>
      <p:sp>
        <p:nvSpPr>
          <p:cNvPr id="647" name="Google Shape;647;p19"/>
          <p:cNvSpPr txBox="1"/>
          <p:nvPr/>
        </p:nvSpPr>
        <p:spPr>
          <a:xfrm>
            <a:off x="2478024" y="3383279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제품 고유 식별자</a:t>
            </a:r>
            <a:endParaRPr/>
          </a:p>
        </p:txBody>
      </p:sp>
      <p:sp>
        <p:nvSpPr>
          <p:cNvPr id="648" name="Google Shape;648;p19"/>
          <p:cNvSpPr txBox="1"/>
          <p:nvPr/>
        </p:nvSpPr>
        <p:spPr>
          <a:xfrm>
            <a:off x="411479" y="3643884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user_id</a:t>
            </a:r>
            <a:endParaRPr/>
          </a:p>
        </p:txBody>
      </p:sp>
      <p:sp>
        <p:nvSpPr>
          <p:cNvPr id="649" name="Google Shape;649;p19"/>
          <p:cNvSpPr/>
          <p:nvPr/>
        </p:nvSpPr>
        <p:spPr>
          <a:xfrm>
            <a:off x="1645919" y="3662172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9"/>
          <p:cNvSpPr txBox="1"/>
          <p:nvPr/>
        </p:nvSpPr>
        <p:spPr>
          <a:xfrm>
            <a:off x="1645919" y="3653028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FK</a:t>
            </a:r>
            <a:endParaRPr/>
          </a:p>
        </p:txBody>
      </p:sp>
      <p:sp>
        <p:nvSpPr>
          <p:cNvPr id="651" name="Google Shape;651;p19"/>
          <p:cNvSpPr txBox="1"/>
          <p:nvPr/>
        </p:nvSpPr>
        <p:spPr>
          <a:xfrm>
            <a:off x="2478024" y="3643884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소유 사용자 참조</a:t>
            </a:r>
            <a:endParaRPr/>
          </a:p>
        </p:txBody>
      </p:sp>
      <p:sp>
        <p:nvSpPr>
          <p:cNvPr id="652" name="Google Shape;652;p19"/>
          <p:cNvSpPr/>
          <p:nvPr/>
        </p:nvSpPr>
        <p:spPr>
          <a:xfrm>
            <a:off x="320040" y="3877056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9"/>
          <p:cNvSpPr txBox="1"/>
          <p:nvPr/>
        </p:nvSpPr>
        <p:spPr>
          <a:xfrm>
            <a:off x="411479" y="3904488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product_name</a:t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1645919" y="3922776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9"/>
          <p:cNvSpPr txBox="1"/>
          <p:nvPr/>
        </p:nvSpPr>
        <p:spPr>
          <a:xfrm>
            <a:off x="1645919" y="391363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/>
          </a:p>
        </p:txBody>
      </p:sp>
      <p:sp>
        <p:nvSpPr>
          <p:cNvPr id="656" name="Google Shape;656;p19"/>
          <p:cNvSpPr txBox="1"/>
          <p:nvPr/>
        </p:nvSpPr>
        <p:spPr>
          <a:xfrm>
            <a:off x="2478024" y="3904488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제품명</a:t>
            </a:r>
            <a:endParaRPr/>
          </a:p>
        </p:txBody>
      </p:sp>
      <p:sp>
        <p:nvSpPr>
          <p:cNvPr id="657" name="Google Shape;657;p19"/>
          <p:cNvSpPr txBox="1"/>
          <p:nvPr/>
        </p:nvSpPr>
        <p:spPr>
          <a:xfrm>
            <a:off x="411479" y="4165092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ingredients</a:t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1645919" y="4183380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9"/>
          <p:cNvSpPr txBox="1"/>
          <p:nvPr/>
        </p:nvSpPr>
        <p:spPr>
          <a:xfrm>
            <a:off x="1645919" y="4174236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TEXT[]</a:t>
            </a:r>
            <a:endParaRPr/>
          </a:p>
        </p:txBody>
      </p:sp>
      <p:sp>
        <p:nvSpPr>
          <p:cNvPr id="660" name="Google Shape;660;p19"/>
          <p:cNvSpPr txBox="1"/>
          <p:nvPr/>
        </p:nvSpPr>
        <p:spPr>
          <a:xfrm>
            <a:off x="2478024" y="4165092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전성분 배열</a:t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320040" y="4398264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9"/>
          <p:cNvSpPr txBox="1"/>
          <p:nvPr/>
        </p:nvSpPr>
        <p:spPr>
          <a:xfrm>
            <a:off x="411479" y="4425696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category_tags</a:t>
            </a: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1645919" y="4443983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9"/>
          <p:cNvSpPr txBox="1"/>
          <p:nvPr/>
        </p:nvSpPr>
        <p:spPr>
          <a:xfrm>
            <a:off x="1645919" y="4434840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TEXT[]</a:t>
            </a:r>
            <a:endParaRPr/>
          </a:p>
        </p:txBody>
      </p:sp>
      <p:sp>
        <p:nvSpPr>
          <p:cNvPr id="665" name="Google Shape;665;p19"/>
          <p:cNvSpPr txBox="1"/>
          <p:nvPr/>
        </p:nvSpPr>
        <p:spPr>
          <a:xfrm>
            <a:off x="2478024" y="4425696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효능 태그 (보습/진정 등)</a:t>
            </a:r>
            <a:endParaRPr/>
          </a:p>
        </p:txBody>
      </p:sp>
      <p:sp>
        <p:nvSpPr>
          <p:cNvPr id="666" name="Google Shape;666;p19"/>
          <p:cNvSpPr txBox="1"/>
          <p:nvPr/>
        </p:nvSpPr>
        <p:spPr>
          <a:xfrm>
            <a:off x="411479" y="4686300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suitability</a:t>
            </a:r>
            <a:endParaRPr/>
          </a:p>
        </p:txBody>
      </p:sp>
      <p:sp>
        <p:nvSpPr>
          <p:cNvPr id="667" name="Google Shape;667;p19"/>
          <p:cNvSpPr/>
          <p:nvPr/>
        </p:nvSpPr>
        <p:spPr>
          <a:xfrm>
            <a:off x="1645919" y="470458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9"/>
          <p:cNvSpPr txBox="1"/>
          <p:nvPr/>
        </p:nvSpPr>
        <p:spPr>
          <a:xfrm>
            <a:off x="1645919" y="469544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VARCHAR</a:t>
            </a:r>
            <a:endParaRPr/>
          </a:p>
        </p:txBody>
      </p:sp>
      <p:sp>
        <p:nvSpPr>
          <p:cNvPr id="669" name="Google Shape;669;p19"/>
          <p:cNvSpPr txBox="1"/>
          <p:nvPr/>
        </p:nvSpPr>
        <p:spPr>
          <a:xfrm>
            <a:off x="2478024" y="4686300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적합 / 주의 / 부적합</a:t>
            </a:r>
            <a:endParaRPr/>
          </a:p>
        </p:txBody>
      </p:sp>
      <p:sp>
        <p:nvSpPr>
          <p:cNvPr id="670" name="Google Shape;670;p19"/>
          <p:cNvSpPr/>
          <p:nvPr/>
        </p:nvSpPr>
        <p:spPr>
          <a:xfrm>
            <a:off x="4709160" y="3017520"/>
            <a:ext cx="4114800" cy="19019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9"/>
          <p:cNvSpPr/>
          <p:nvPr/>
        </p:nvSpPr>
        <p:spPr>
          <a:xfrm>
            <a:off x="4709160" y="3017520"/>
            <a:ext cx="4114800" cy="338328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9"/>
          <p:cNvSpPr txBox="1"/>
          <p:nvPr/>
        </p:nvSpPr>
        <p:spPr>
          <a:xfrm>
            <a:off x="4818888" y="3072384"/>
            <a:ext cx="38404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routines</a:t>
            </a:r>
            <a:endParaRPr/>
          </a:p>
        </p:txBody>
      </p:sp>
      <p:sp>
        <p:nvSpPr>
          <p:cNvPr id="673" name="Google Shape;673;p19"/>
          <p:cNvSpPr/>
          <p:nvPr/>
        </p:nvSpPr>
        <p:spPr>
          <a:xfrm>
            <a:off x="4709160" y="3355848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9"/>
          <p:cNvSpPr txBox="1"/>
          <p:nvPr/>
        </p:nvSpPr>
        <p:spPr>
          <a:xfrm>
            <a:off x="4800600" y="3383279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routine_id</a:t>
            </a:r>
            <a:endParaRPr/>
          </a:p>
        </p:txBody>
      </p:sp>
      <p:sp>
        <p:nvSpPr>
          <p:cNvPr id="675" name="Google Shape;675;p19"/>
          <p:cNvSpPr/>
          <p:nvPr/>
        </p:nvSpPr>
        <p:spPr>
          <a:xfrm>
            <a:off x="6035040" y="340156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9"/>
          <p:cNvSpPr txBox="1"/>
          <p:nvPr/>
        </p:nvSpPr>
        <p:spPr>
          <a:xfrm>
            <a:off x="6035040" y="339242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PK</a:t>
            </a:r>
            <a:endParaRPr/>
          </a:p>
        </p:txBody>
      </p:sp>
      <p:sp>
        <p:nvSpPr>
          <p:cNvPr id="677" name="Google Shape;677;p19"/>
          <p:cNvSpPr txBox="1"/>
          <p:nvPr/>
        </p:nvSpPr>
        <p:spPr>
          <a:xfrm>
            <a:off x="6867144" y="3383279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루틴 고유 식별자</a:t>
            </a:r>
            <a:endParaRPr/>
          </a:p>
        </p:txBody>
      </p:sp>
      <p:sp>
        <p:nvSpPr>
          <p:cNvPr id="678" name="Google Shape;678;p19"/>
          <p:cNvSpPr txBox="1"/>
          <p:nvPr/>
        </p:nvSpPr>
        <p:spPr>
          <a:xfrm>
            <a:off x="4800600" y="3643884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user_id</a:t>
            </a:r>
            <a:endParaRPr/>
          </a:p>
        </p:txBody>
      </p:sp>
      <p:sp>
        <p:nvSpPr>
          <p:cNvPr id="679" name="Google Shape;679;p19"/>
          <p:cNvSpPr/>
          <p:nvPr/>
        </p:nvSpPr>
        <p:spPr>
          <a:xfrm>
            <a:off x="6035040" y="3662172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9"/>
          <p:cNvSpPr txBox="1"/>
          <p:nvPr/>
        </p:nvSpPr>
        <p:spPr>
          <a:xfrm>
            <a:off x="6035040" y="3653028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FK</a:t>
            </a:r>
            <a:endParaRPr/>
          </a:p>
        </p:txBody>
      </p:sp>
      <p:sp>
        <p:nvSpPr>
          <p:cNvPr id="681" name="Google Shape;681;p19"/>
          <p:cNvSpPr txBox="1"/>
          <p:nvPr/>
        </p:nvSpPr>
        <p:spPr>
          <a:xfrm>
            <a:off x="6867144" y="3643884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users 테이블 참조</a:t>
            </a:r>
            <a:endParaRPr/>
          </a:p>
        </p:txBody>
      </p:sp>
      <p:sp>
        <p:nvSpPr>
          <p:cNvPr id="682" name="Google Shape;682;p19"/>
          <p:cNvSpPr/>
          <p:nvPr/>
        </p:nvSpPr>
        <p:spPr>
          <a:xfrm>
            <a:off x="4709160" y="3877056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9"/>
          <p:cNvSpPr txBox="1"/>
          <p:nvPr/>
        </p:nvSpPr>
        <p:spPr>
          <a:xfrm>
            <a:off x="4800600" y="3904488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morning_steps</a:t>
            </a: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6035040" y="3922776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9"/>
          <p:cNvSpPr txBox="1"/>
          <p:nvPr/>
        </p:nvSpPr>
        <p:spPr>
          <a:xfrm>
            <a:off x="6035040" y="3913632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JSONB</a:t>
            </a:r>
            <a:endParaRPr/>
          </a:p>
        </p:txBody>
      </p:sp>
      <p:sp>
        <p:nvSpPr>
          <p:cNvPr id="686" name="Google Shape;686;p19"/>
          <p:cNvSpPr txBox="1"/>
          <p:nvPr/>
        </p:nvSpPr>
        <p:spPr>
          <a:xfrm>
            <a:off x="6867144" y="3904488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아침 루틴 단계 배열</a:t>
            </a:r>
            <a:endParaRPr/>
          </a:p>
        </p:txBody>
      </p:sp>
      <p:sp>
        <p:nvSpPr>
          <p:cNvPr id="687" name="Google Shape;687;p19"/>
          <p:cNvSpPr txBox="1"/>
          <p:nvPr/>
        </p:nvSpPr>
        <p:spPr>
          <a:xfrm>
            <a:off x="4800600" y="4165092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evening_steps</a:t>
            </a: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6035040" y="4183380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 txBox="1"/>
          <p:nvPr/>
        </p:nvSpPr>
        <p:spPr>
          <a:xfrm>
            <a:off x="6035040" y="4174236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JSONB</a:t>
            </a:r>
            <a:endParaRPr/>
          </a:p>
        </p:txBody>
      </p:sp>
      <p:sp>
        <p:nvSpPr>
          <p:cNvPr id="690" name="Google Shape;690;p19"/>
          <p:cNvSpPr txBox="1"/>
          <p:nvPr/>
        </p:nvSpPr>
        <p:spPr>
          <a:xfrm>
            <a:off x="6867144" y="4165092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저녁 루틴 단계 배열</a:t>
            </a:r>
            <a:endParaRPr/>
          </a:p>
        </p:txBody>
      </p:sp>
      <p:sp>
        <p:nvSpPr>
          <p:cNvPr id="691" name="Google Shape;691;p19"/>
          <p:cNvSpPr/>
          <p:nvPr/>
        </p:nvSpPr>
        <p:spPr>
          <a:xfrm>
            <a:off x="4709160" y="4398264"/>
            <a:ext cx="4114800" cy="260603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 txBox="1"/>
          <p:nvPr/>
        </p:nvSpPr>
        <p:spPr>
          <a:xfrm>
            <a:off x="4800600" y="4425696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generated_at</a:t>
            </a:r>
            <a:endParaRPr/>
          </a:p>
        </p:txBody>
      </p:sp>
      <p:sp>
        <p:nvSpPr>
          <p:cNvPr id="693" name="Google Shape;693;p19"/>
          <p:cNvSpPr/>
          <p:nvPr/>
        </p:nvSpPr>
        <p:spPr>
          <a:xfrm>
            <a:off x="6035040" y="4443983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 txBox="1"/>
          <p:nvPr/>
        </p:nvSpPr>
        <p:spPr>
          <a:xfrm>
            <a:off x="6035040" y="4434840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TIMESTAMP</a:t>
            </a:r>
            <a:endParaRPr/>
          </a:p>
        </p:txBody>
      </p:sp>
      <p:sp>
        <p:nvSpPr>
          <p:cNvPr id="695" name="Google Shape;695;p19"/>
          <p:cNvSpPr txBox="1"/>
          <p:nvPr/>
        </p:nvSpPr>
        <p:spPr>
          <a:xfrm>
            <a:off x="6867144" y="4425696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루틴 생성 일시</a:t>
            </a:r>
            <a:endParaRPr/>
          </a:p>
        </p:txBody>
      </p:sp>
      <p:sp>
        <p:nvSpPr>
          <p:cNvPr id="696" name="Google Shape;696;p19"/>
          <p:cNvSpPr txBox="1"/>
          <p:nvPr/>
        </p:nvSpPr>
        <p:spPr>
          <a:xfrm>
            <a:off x="4800600" y="4686300"/>
            <a:ext cx="1188720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analysis_id</a:t>
            </a:r>
            <a:endParaRPr/>
          </a:p>
        </p:txBody>
      </p:sp>
      <p:sp>
        <p:nvSpPr>
          <p:cNvPr id="697" name="Google Shape;697;p19"/>
          <p:cNvSpPr/>
          <p:nvPr/>
        </p:nvSpPr>
        <p:spPr>
          <a:xfrm>
            <a:off x="6035040" y="4704588"/>
            <a:ext cx="777240" cy="169163"/>
          </a:xfrm>
          <a:prstGeom prst="rect">
            <a:avLst/>
          </a:prstGeom>
          <a:solidFill>
            <a:srgbClr val="EAF4F3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 txBox="1"/>
          <p:nvPr/>
        </p:nvSpPr>
        <p:spPr>
          <a:xfrm>
            <a:off x="6035040" y="4695444"/>
            <a:ext cx="777240" cy="20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UUID FK</a:t>
            </a:r>
            <a:endParaRPr/>
          </a:p>
        </p:txBody>
      </p:sp>
      <p:sp>
        <p:nvSpPr>
          <p:cNvPr id="699" name="Google Shape;699;p19"/>
          <p:cNvSpPr txBox="1"/>
          <p:nvPr/>
        </p:nvSpPr>
        <p:spPr>
          <a:xfrm>
            <a:off x="6867144" y="4686300"/>
            <a:ext cx="1865376" cy="224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진단 결과 참조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e9f56f8274_1_0"/>
          <p:cNvSpPr/>
          <p:nvPr/>
        </p:nvSpPr>
        <p:spPr>
          <a:xfrm>
            <a:off x="320040" y="164592"/>
            <a:ext cx="64008" cy="347472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g3e9f56f8274_1_0"/>
          <p:cNvSpPr txBox="1"/>
          <p:nvPr/>
        </p:nvSpPr>
        <p:spPr>
          <a:xfrm>
            <a:off x="484632" y="155448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API 및 외부 연동 구조</a:t>
            </a:r>
            <a:endParaRPr/>
          </a:p>
        </p:txBody>
      </p:sp>
      <p:sp>
        <p:nvSpPr>
          <p:cNvPr id="707" name="Google Shape;707;g3e9f56f8274_1_0"/>
          <p:cNvSpPr txBox="1"/>
          <p:nvPr/>
        </p:nvSpPr>
        <p:spPr>
          <a:xfrm>
            <a:off x="484632" y="5120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ChatGPT API · Claude API · 이미지·음성 API 연동 방식</a:t>
            </a:r>
            <a:endParaRPr/>
          </a:p>
        </p:txBody>
      </p:sp>
      <p:sp>
        <p:nvSpPr>
          <p:cNvPr id="708" name="Google Shape;708;g3e9f56f8274_1_0"/>
          <p:cNvSpPr/>
          <p:nvPr/>
        </p:nvSpPr>
        <p:spPr>
          <a:xfrm>
            <a:off x="320040" y="841248"/>
            <a:ext cx="2679192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3e9f56f8274_1_0"/>
          <p:cNvSpPr/>
          <p:nvPr/>
        </p:nvSpPr>
        <p:spPr>
          <a:xfrm>
            <a:off x="320040" y="841248"/>
            <a:ext cx="2679192" cy="347472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e9f56f8274_1_0"/>
          <p:cNvSpPr txBox="1"/>
          <p:nvPr/>
        </p:nvSpPr>
        <p:spPr>
          <a:xfrm>
            <a:off x="429768" y="896112"/>
            <a:ext cx="2496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YOLOv8 로컬 연동(FastAPI 내장)</a:t>
            </a:r>
            <a:endParaRPr/>
          </a:p>
        </p:txBody>
      </p:sp>
      <p:sp>
        <p:nvSpPr>
          <p:cNvPr id="711" name="Google Shape;711;g3e9f56f8274_1_0"/>
          <p:cNvSpPr/>
          <p:nvPr/>
        </p:nvSpPr>
        <p:spPr>
          <a:xfrm>
            <a:off x="411479" y="140360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g3e9f56f8274_1_0"/>
          <p:cNvSpPr txBox="1"/>
          <p:nvPr/>
        </p:nvSpPr>
        <p:spPr>
          <a:xfrm>
            <a:off x="548640" y="1261872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ultralytics 패키지로 서버 메모리 모델 로드</a:t>
            </a:r>
            <a:endParaRPr/>
          </a:p>
        </p:txBody>
      </p:sp>
      <p:sp>
        <p:nvSpPr>
          <p:cNvPr id="713" name="Google Shape;713;g3e9f56f8274_1_0"/>
          <p:cNvSpPr/>
          <p:nvPr/>
        </p:nvSpPr>
        <p:spPr>
          <a:xfrm>
            <a:off x="411479" y="1778507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g3e9f56f8274_1_0"/>
          <p:cNvSpPr txBox="1"/>
          <p:nvPr/>
        </p:nvSpPr>
        <p:spPr>
          <a:xfrm>
            <a:off x="548640" y="1636775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HTTP POST 이미지 바이트 스트림 직접 추론</a:t>
            </a:r>
            <a:endParaRPr/>
          </a:p>
        </p:txBody>
      </p:sp>
      <p:sp>
        <p:nvSpPr>
          <p:cNvPr id="715" name="Google Shape;715;g3e9f56f8274_1_0"/>
          <p:cNvSpPr/>
          <p:nvPr/>
        </p:nvSpPr>
        <p:spPr>
          <a:xfrm>
            <a:off x="411479" y="2153412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g3e9f56f8274_1_0"/>
          <p:cNvSpPr txBox="1"/>
          <p:nvPr/>
        </p:nvSpPr>
        <p:spPr>
          <a:xfrm>
            <a:off x="548640" y="2011679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외부 호출 없는 고속 로컬 파이프라인</a:t>
            </a:r>
            <a:endParaRPr/>
          </a:p>
        </p:txBody>
      </p:sp>
      <p:sp>
        <p:nvSpPr>
          <p:cNvPr id="717" name="Google Shape;717;g3e9f56f8274_1_0"/>
          <p:cNvSpPr/>
          <p:nvPr/>
        </p:nvSpPr>
        <p:spPr>
          <a:xfrm>
            <a:off x="411479" y="252831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g3e9f56f8274_1_0"/>
          <p:cNvSpPr txBox="1"/>
          <p:nvPr/>
        </p:nvSpPr>
        <p:spPr>
          <a:xfrm>
            <a:off x="548640" y="2386584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MediaPipe Face Mesh 결합 → 배경 마스킹</a:t>
            </a:r>
            <a:endParaRPr/>
          </a:p>
        </p:txBody>
      </p:sp>
      <p:sp>
        <p:nvSpPr>
          <p:cNvPr id="719" name="Google Shape;719;g3e9f56f8274_1_0"/>
          <p:cNvSpPr/>
          <p:nvPr/>
        </p:nvSpPr>
        <p:spPr>
          <a:xfrm>
            <a:off x="3241548" y="841248"/>
            <a:ext cx="2679192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g3e9f56f8274_1_0"/>
          <p:cNvSpPr/>
          <p:nvPr/>
        </p:nvSpPr>
        <p:spPr>
          <a:xfrm>
            <a:off x="3241548" y="841248"/>
            <a:ext cx="2679192" cy="347472"/>
          </a:xfrm>
          <a:prstGeom prst="rect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e9f56f8274_1_0"/>
          <p:cNvSpPr txBox="1"/>
          <p:nvPr/>
        </p:nvSpPr>
        <p:spPr>
          <a:xfrm>
            <a:off x="3351276" y="896112"/>
            <a:ext cx="2496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ChatGPT / Claude API 연동</a:t>
            </a:r>
            <a:endParaRPr/>
          </a:p>
        </p:txBody>
      </p:sp>
      <p:sp>
        <p:nvSpPr>
          <p:cNvPr id="722" name="Google Shape;722;g3e9f56f8274_1_0"/>
          <p:cNvSpPr/>
          <p:nvPr/>
        </p:nvSpPr>
        <p:spPr>
          <a:xfrm>
            <a:off x="3332988" y="140360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e9f56f8274_1_0"/>
          <p:cNvSpPr txBox="1"/>
          <p:nvPr/>
        </p:nvSpPr>
        <p:spPr>
          <a:xfrm>
            <a:off x="3470148" y="1261872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비동기 HTTP 클라이언트 (httpx / 공식 SDK)</a:t>
            </a:r>
            <a:endParaRPr/>
          </a:p>
        </p:txBody>
      </p:sp>
      <p:sp>
        <p:nvSpPr>
          <p:cNvPr id="724" name="Google Shape;724;g3e9f56f8274_1_0"/>
          <p:cNvSpPr/>
          <p:nvPr/>
        </p:nvSpPr>
        <p:spPr>
          <a:xfrm>
            <a:off x="3332988" y="1778507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g3e9f56f8274_1_0"/>
          <p:cNvSpPr txBox="1"/>
          <p:nvPr/>
        </p:nvSpPr>
        <p:spPr>
          <a:xfrm>
            <a:off x="3470148" y="1636775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System Prompt: 피부과의사회 가이드라인 주입</a:t>
            </a:r>
            <a:endParaRPr/>
          </a:p>
        </p:txBody>
      </p:sp>
      <p:sp>
        <p:nvSpPr>
          <p:cNvPr id="726" name="Google Shape;726;g3e9f56f8274_1_0"/>
          <p:cNvSpPr/>
          <p:nvPr/>
        </p:nvSpPr>
        <p:spPr>
          <a:xfrm>
            <a:off x="3332988" y="2153412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e9f56f8274_1_0"/>
          <p:cNvSpPr txBox="1"/>
          <p:nvPr/>
        </p:nvSpPr>
        <p:spPr>
          <a:xfrm>
            <a:off x="3470148" y="2011679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User Prompt: 피부 점수 + 성분 JSON 전달</a:t>
            </a:r>
            <a:endParaRPr/>
          </a:p>
        </p:txBody>
      </p:sp>
      <p:sp>
        <p:nvSpPr>
          <p:cNvPr id="728" name="Google Shape;728;g3e9f56f8274_1_0"/>
          <p:cNvSpPr/>
          <p:nvPr/>
        </p:nvSpPr>
        <p:spPr>
          <a:xfrm>
            <a:off x="3332988" y="252831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e9f56f8274_1_0"/>
          <p:cNvSpPr txBox="1"/>
          <p:nvPr/>
        </p:nvSpPr>
        <p:spPr>
          <a:xfrm>
            <a:off x="3470148" y="2386584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response_format: json_object 강제 반환</a:t>
            </a:r>
            <a:endParaRPr/>
          </a:p>
        </p:txBody>
      </p:sp>
      <p:sp>
        <p:nvSpPr>
          <p:cNvPr id="730" name="Google Shape;730;g3e9f56f8274_1_0"/>
          <p:cNvSpPr/>
          <p:nvPr/>
        </p:nvSpPr>
        <p:spPr>
          <a:xfrm>
            <a:off x="6163056" y="841248"/>
            <a:ext cx="2679192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e9f56f8274_1_0"/>
          <p:cNvSpPr/>
          <p:nvPr/>
        </p:nvSpPr>
        <p:spPr>
          <a:xfrm>
            <a:off x="6163056" y="841248"/>
            <a:ext cx="2679192" cy="347472"/>
          </a:xfrm>
          <a:prstGeom prst="rect">
            <a:avLst/>
          </a:prstGeom>
          <a:solidFill>
            <a:srgbClr val="157A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3e9f56f8274_1_0"/>
          <p:cNvSpPr txBox="1"/>
          <p:nvPr/>
        </p:nvSpPr>
        <p:spPr>
          <a:xfrm>
            <a:off x="6236234" y="799599"/>
            <a:ext cx="2496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 Claude API(Fallback / 서킷브레이커)</a:t>
            </a:r>
            <a:endParaRPr/>
          </a:p>
        </p:txBody>
      </p:sp>
      <p:sp>
        <p:nvSpPr>
          <p:cNvPr id="733" name="Google Shape;733;g3e9f56f8274_1_0"/>
          <p:cNvSpPr/>
          <p:nvPr/>
        </p:nvSpPr>
        <p:spPr>
          <a:xfrm>
            <a:off x="6254496" y="140360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g3e9f56f8274_1_0"/>
          <p:cNvSpPr txBox="1"/>
          <p:nvPr/>
        </p:nvSpPr>
        <p:spPr>
          <a:xfrm>
            <a:off x="6391656" y="1261872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공식 anthropic Python SDK 사용</a:t>
            </a:r>
            <a:endParaRPr/>
          </a:p>
        </p:txBody>
      </p:sp>
      <p:sp>
        <p:nvSpPr>
          <p:cNvPr id="735" name="Google Shape;735;g3e9f56f8274_1_0"/>
          <p:cNvSpPr/>
          <p:nvPr/>
        </p:nvSpPr>
        <p:spPr>
          <a:xfrm>
            <a:off x="6254496" y="1778507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e9f56f8274_1_0"/>
          <p:cNvSpPr txBox="1"/>
          <p:nvPr/>
        </p:nvSpPr>
        <p:spPr>
          <a:xfrm>
            <a:off x="6391656" y="1636775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GPT-4o API 장애 시 서킷 브레이커 전환</a:t>
            </a:r>
            <a:endParaRPr/>
          </a:p>
        </p:txBody>
      </p:sp>
      <p:sp>
        <p:nvSpPr>
          <p:cNvPr id="737" name="Google Shape;737;g3e9f56f8274_1_0"/>
          <p:cNvSpPr/>
          <p:nvPr/>
        </p:nvSpPr>
        <p:spPr>
          <a:xfrm>
            <a:off x="6254496" y="2153412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g3e9f56f8274_1_0"/>
          <p:cNvSpPr txBox="1"/>
          <p:nvPr/>
        </p:nvSpPr>
        <p:spPr>
          <a:xfrm>
            <a:off x="6391656" y="2011679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동일 프롬프트 구조 재사용 (표준화)</a:t>
            </a:r>
            <a:endParaRPr/>
          </a:p>
        </p:txBody>
      </p:sp>
      <p:sp>
        <p:nvSpPr>
          <p:cNvPr id="739" name="Google Shape;739;g3e9f56f8274_1_0"/>
          <p:cNvSpPr/>
          <p:nvPr/>
        </p:nvSpPr>
        <p:spPr>
          <a:xfrm>
            <a:off x="6254496" y="252831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e9f56f8274_1_0"/>
          <p:cNvSpPr txBox="1"/>
          <p:nvPr/>
        </p:nvSpPr>
        <p:spPr>
          <a:xfrm>
            <a:off x="6391656" y="2386584"/>
            <a:ext cx="2377440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LLM 장애 시 로컬 템플릿 반환 가드레일</a:t>
            </a:r>
            <a:endParaRPr/>
          </a:p>
        </p:txBody>
      </p:sp>
      <p:sp>
        <p:nvSpPr>
          <p:cNvPr id="741" name="Google Shape;741;g3e9f56f8274_1_0"/>
          <p:cNvSpPr txBox="1"/>
          <p:nvPr/>
        </p:nvSpPr>
        <p:spPr>
          <a:xfrm>
            <a:off x="320040" y="29260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프롬프트 구조 설계 — Hallucination 방지 전략</a:t>
            </a:r>
            <a:endParaRPr/>
          </a:p>
        </p:txBody>
      </p:sp>
      <p:sp>
        <p:nvSpPr>
          <p:cNvPr id="742" name="Google Shape;742;g3e9f56f8274_1_0"/>
          <p:cNvSpPr/>
          <p:nvPr/>
        </p:nvSpPr>
        <p:spPr>
          <a:xfrm>
            <a:off x="320040" y="3264408"/>
            <a:ext cx="2679192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e9f56f8274_1_0"/>
          <p:cNvSpPr/>
          <p:nvPr/>
        </p:nvSpPr>
        <p:spPr>
          <a:xfrm>
            <a:off x="320040" y="3264408"/>
            <a:ext cx="2679192" cy="301752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e9f56f8274_1_0"/>
          <p:cNvSpPr txBox="1"/>
          <p:nvPr/>
        </p:nvSpPr>
        <p:spPr>
          <a:xfrm>
            <a:off x="429768" y="3282696"/>
            <a:ext cx="24963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System Prompt</a:t>
            </a:r>
            <a:endParaRPr/>
          </a:p>
        </p:txBody>
      </p:sp>
      <p:sp>
        <p:nvSpPr>
          <p:cNvPr id="745" name="Google Shape;745;g3e9f56f8274_1_0"/>
          <p:cNvSpPr/>
          <p:nvPr/>
        </p:nvSpPr>
        <p:spPr>
          <a:xfrm>
            <a:off x="411479" y="375818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e9f56f8274_1_0"/>
          <p:cNvSpPr txBox="1"/>
          <p:nvPr/>
        </p:nvSpPr>
        <p:spPr>
          <a:xfrm>
            <a:off x="548640" y="36301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역할: 대한피부과의사회 가이드라인 준수 전문 AI</a:t>
            </a:r>
            <a:endParaRPr/>
          </a:p>
        </p:txBody>
      </p:sp>
      <p:sp>
        <p:nvSpPr>
          <p:cNvPr id="747" name="Google Shape;747;g3e9f56f8274_1_0"/>
          <p:cNvSpPr/>
          <p:nvPr/>
        </p:nvSpPr>
        <p:spPr>
          <a:xfrm>
            <a:off x="411479" y="410565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g3e9f56f8274_1_0"/>
          <p:cNvSpPr txBox="1"/>
          <p:nvPr/>
        </p:nvSpPr>
        <p:spPr>
          <a:xfrm>
            <a:off x="548640" y="3977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식약처 고시 제약조건 주입</a:t>
            </a:r>
            <a:endParaRPr/>
          </a:p>
        </p:txBody>
      </p:sp>
      <p:sp>
        <p:nvSpPr>
          <p:cNvPr id="749" name="Google Shape;749;g3e9f56f8274_1_0"/>
          <p:cNvSpPr/>
          <p:nvPr/>
        </p:nvSpPr>
        <p:spPr>
          <a:xfrm>
            <a:off x="411479" y="4453128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g3e9f56f8274_1_0"/>
          <p:cNvSpPr txBox="1"/>
          <p:nvPr/>
        </p:nvSpPr>
        <p:spPr>
          <a:xfrm>
            <a:off x="548640" y="43251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면책 문구 필수 포함 규칙</a:t>
            </a:r>
            <a:endParaRPr/>
          </a:p>
        </p:txBody>
      </p:sp>
      <p:sp>
        <p:nvSpPr>
          <p:cNvPr id="751" name="Google Shape;751;g3e9f56f8274_1_0"/>
          <p:cNvSpPr txBox="1"/>
          <p:nvPr/>
        </p:nvSpPr>
        <p:spPr>
          <a:xfrm>
            <a:off x="3044952" y="3950208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52" name="Google Shape;752;g3e9f56f8274_1_0"/>
          <p:cNvSpPr/>
          <p:nvPr/>
        </p:nvSpPr>
        <p:spPr>
          <a:xfrm>
            <a:off x="3241548" y="3264408"/>
            <a:ext cx="2679192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g3e9f56f8274_1_0"/>
          <p:cNvSpPr/>
          <p:nvPr/>
        </p:nvSpPr>
        <p:spPr>
          <a:xfrm>
            <a:off x="3241548" y="3264408"/>
            <a:ext cx="2679192" cy="301752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g3e9f56f8274_1_0"/>
          <p:cNvSpPr txBox="1"/>
          <p:nvPr/>
        </p:nvSpPr>
        <p:spPr>
          <a:xfrm>
            <a:off x="3351276" y="3282696"/>
            <a:ext cx="24963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User Prompt</a:t>
            </a:r>
            <a:endParaRPr/>
          </a:p>
        </p:txBody>
      </p:sp>
      <p:sp>
        <p:nvSpPr>
          <p:cNvPr id="755" name="Google Shape;755;g3e9f56f8274_1_0"/>
          <p:cNvSpPr/>
          <p:nvPr/>
        </p:nvSpPr>
        <p:spPr>
          <a:xfrm>
            <a:off x="3332988" y="375818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g3e9f56f8274_1_0"/>
          <p:cNvSpPr txBox="1"/>
          <p:nvPr/>
        </p:nvSpPr>
        <p:spPr>
          <a:xfrm>
            <a:off x="3470148" y="36301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피부 점수 지표 (여드름 / 모공 / 홍조 / 피지)</a:t>
            </a:r>
            <a:endParaRPr/>
          </a:p>
        </p:txBody>
      </p:sp>
      <p:sp>
        <p:nvSpPr>
          <p:cNvPr id="757" name="Google Shape;757;g3e9f56f8274_1_0"/>
          <p:cNvSpPr/>
          <p:nvPr/>
        </p:nvSpPr>
        <p:spPr>
          <a:xfrm>
            <a:off x="3332988" y="410565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g3e9f56f8274_1_0"/>
          <p:cNvSpPr txBox="1"/>
          <p:nvPr/>
        </p:nvSpPr>
        <p:spPr>
          <a:xfrm>
            <a:off x="3470148" y="3977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보유 화장품 전성분 데이터</a:t>
            </a:r>
            <a:endParaRPr/>
          </a:p>
        </p:txBody>
      </p:sp>
      <p:sp>
        <p:nvSpPr>
          <p:cNvPr id="759" name="Google Shape;759;g3e9f56f8274_1_0"/>
          <p:cNvSpPr/>
          <p:nvPr/>
        </p:nvSpPr>
        <p:spPr>
          <a:xfrm>
            <a:off x="3332988" y="4453128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e9f56f8274_1_0"/>
          <p:cNvSpPr txBox="1"/>
          <p:nvPr/>
        </p:nvSpPr>
        <p:spPr>
          <a:xfrm>
            <a:off x="3470148" y="43251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구조화 JSON 포맷으로 전달</a:t>
            </a:r>
            <a:endParaRPr/>
          </a:p>
        </p:txBody>
      </p:sp>
      <p:sp>
        <p:nvSpPr>
          <p:cNvPr id="761" name="Google Shape;761;g3e9f56f8274_1_0"/>
          <p:cNvSpPr txBox="1"/>
          <p:nvPr/>
        </p:nvSpPr>
        <p:spPr>
          <a:xfrm>
            <a:off x="5966459" y="3950208"/>
            <a:ext cx="201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62" name="Google Shape;762;g3e9f56f8274_1_0"/>
          <p:cNvSpPr/>
          <p:nvPr/>
        </p:nvSpPr>
        <p:spPr>
          <a:xfrm>
            <a:off x="6163056" y="3264408"/>
            <a:ext cx="2679192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g3e9f56f8274_1_0"/>
          <p:cNvSpPr/>
          <p:nvPr/>
        </p:nvSpPr>
        <p:spPr>
          <a:xfrm>
            <a:off x="6163056" y="3264408"/>
            <a:ext cx="2679192" cy="301752"/>
          </a:xfrm>
          <a:prstGeom prst="rect">
            <a:avLst/>
          </a:prstGeom>
          <a:solidFill>
            <a:srgbClr val="EAF4F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g3e9f56f8274_1_0"/>
          <p:cNvSpPr txBox="1"/>
          <p:nvPr/>
        </p:nvSpPr>
        <p:spPr>
          <a:xfrm>
            <a:off x="6272784" y="3282696"/>
            <a:ext cx="2496312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57A6E"/>
                </a:solidFill>
                <a:latin typeface="Arial"/>
                <a:ea typeface="Arial"/>
                <a:cs typeface="Arial"/>
                <a:sym typeface="Arial"/>
              </a:rPr>
              <a:t>Response (JSON)</a:t>
            </a:r>
            <a:endParaRPr/>
          </a:p>
        </p:txBody>
      </p:sp>
      <p:sp>
        <p:nvSpPr>
          <p:cNvPr id="765" name="Google Shape;765;g3e9f56f8274_1_0"/>
          <p:cNvSpPr/>
          <p:nvPr/>
        </p:nvSpPr>
        <p:spPr>
          <a:xfrm>
            <a:off x="6254496" y="3758184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g3e9f56f8274_1_0"/>
          <p:cNvSpPr txBox="1"/>
          <p:nvPr/>
        </p:nvSpPr>
        <p:spPr>
          <a:xfrm>
            <a:off x="6391656" y="363016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json_object 모드 강제 반환</a:t>
            </a:r>
            <a:endParaRPr/>
          </a:p>
        </p:txBody>
      </p:sp>
      <p:sp>
        <p:nvSpPr>
          <p:cNvPr id="767" name="Google Shape;767;g3e9f56f8274_1_0"/>
          <p:cNvSpPr/>
          <p:nvPr/>
        </p:nvSpPr>
        <p:spPr>
          <a:xfrm>
            <a:off x="6254496" y="4105656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e9f56f8274_1_0"/>
          <p:cNvSpPr txBox="1"/>
          <p:nvPr/>
        </p:nvSpPr>
        <p:spPr>
          <a:xfrm>
            <a:off x="6391656" y="39776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백엔드 파서 검증 후 필요 노드 추출</a:t>
            </a:r>
            <a:endParaRPr/>
          </a:p>
        </p:txBody>
      </p:sp>
      <p:sp>
        <p:nvSpPr>
          <p:cNvPr id="769" name="Google Shape;769;g3e9f56f8274_1_0"/>
          <p:cNvSpPr/>
          <p:nvPr/>
        </p:nvSpPr>
        <p:spPr>
          <a:xfrm>
            <a:off x="6254496" y="4453128"/>
            <a:ext cx="82296" cy="82296"/>
          </a:xfrm>
          <a:prstGeom prst="ellipse">
            <a:avLst/>
          </a:prstGeom>
          <a:solidFill>
            <a:srgbClr val="1B9E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3e9f56f8274_1_0"/>
          <p:cNvSpPr txBox="1"/>
          <p:nvPr/>
        </p:nvSpPr>
        <p:spPr>
          <a:xfrm>
            <a:off x="6391656" y="43251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PostgreSQL 히스토리 테이블 저장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0"/>
          <p:cNvSpPr/>
          <p:nvPr/>
        </p:nvSpPr>
        <p:spPr>
          <a:xfrm>
            <a:off x="320040" y="201168"/>
            <a:ext cx="64008" cy="347472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475488" y="164592"/>
            <a:ext cx="8321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기술 스택 및 개발 환경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274320" y="749808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274320" y="749808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429768" y="8412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언어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429768" y="120700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Python 3.10+,  Java / Kotlin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4754880" y="749808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4754880" y="749808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4910328" y="84124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AI 프레임워크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4910328" y="120700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Ultralytics YOLOv8,  OpenCV,  Pandas,  MediaPipe Face Mesh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274320" y="1874520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274320" y="1874520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429768" y="1965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백엔드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429768" y="2331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FastAPI (Async),  Uvicorn (ASGI)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4754880" y="1874520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4754880" y="1874520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4910328" y="1965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데이터베이스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4910328" y="233172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PostgreSQL,  SQLAlchemy 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274320" y="2999232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274320" y="2999232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429768" y="30906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외부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429768" y="34564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OpenAI GPT-4o,  Anthropic Claude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4754880" y="2999232"/>
            <a:ext cx="4206240" cy="9601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4754880" y="2999232"/>
            <a:ext cx="64008" cy="96012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4910328" y="30906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협업 도구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4910328" y="34564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Git / GitHub (usohee/AI_SkinCare_project),  Roboflow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274320" y="4023360"/>
            <a:ext cx="64008" cy="777240"/>
          </a:xfrm>
          <a:prstGeom prst="rect">
            <a:avLst/>
          </a:prstGeom>
          <a:solidFill>
            <a:srgbClr val="1B9E8A"/>
          </a:solidFill>
          <a:ln cap="flat" cmpd="sng" w="12700">
            <a:solidFill>
              <a:srgbClr val="1B9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429768" y="4114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9E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9E8A"/>
                </a:solidFill>
                <a:latin typeface="Calibri"/>
                <a:ea typeface="Calibri"/>
                <a:cs typeface="Calibri"/>
                <a:sym typeface="Calibri"/>
              </a:rPr>
              <a:t>개발 도구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429768" y="44622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Cursor Editor,  Android Studio,  Postman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9E8A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157A6E"/>
          </a:solidFill>
          <a:ln cap="flat" cmpd="sng" w="127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1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1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Mirror Me — 컴퓨터 비전 기반 피부 분석 및 맞춤형 스킨케어 큐레이션 시스템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1"/>
          <p:cNvSpPr/>
          <p:nvPr/>
        </p:nvSpPr>
        <p:spPr>
          <a:xfrm>
            <a:off x="3200400" y="2907792"/>
            <a:ext cx="2743200" cy="45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1"/>
          <p:cNvSpPr/>
          <p:nvPr/>
        </p:nvSpPr>
        <p:spPr>
          <a:xfrm>
            <a:off x="914400" y="3063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팀명: 응원해조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2026-05-24T15:07:07Z</dcterms:created>
  <dc:creator>PptxGenJS</dc:creator>
</cp:coreProperties>
</file>